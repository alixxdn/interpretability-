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2" r:id="rId16"/>
    <p:sldId id="269" r:id="rId17"/>
    <p:sldId id="270" r:id="rId18"/>
    <p:sldId id="273" r:id="rId19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31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8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EN</c:v>
                </c:pt>
                <c:pt idx="1">
                  <c:v>DE</c:v>
                </c:pt>
                <c:pt idx="2">
                  <c:v>FR</c:v>
                </c:pt>
                <c:pt idx="3">
                  <c:v>RU</c:v>
                </c:pt>
                <c:pt idx="4">
                  <c:v>FI</c:v>
                </c:pt>
                <c:pt idx="5">
                  <c:v>TR</c:v>
                </c:pt>
                <c:pt idx="6">
                  <c:v>ZH</c:v>
                </c:pt>
                <c:pt idx="7">
                  <c:v>IT</c:v>
                </c:pt>
                <c:pt idx="8">
                  <c:v>ES</c:v>
                </c:pt>
                <c:pt idx="9">
                  <c:v>FA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145</c:v>
                </c:pt>
                <c:pt idx="1">
                  <c:v>21</c:v>
                </c:pt>
                <c:pt idx="2">
                  <c:v>20</c:v>
                </c:pt>
                <c:pt idx="3">
                  <c:v>20</c:v>
                </c:pt>
                <c:pt idx="4">
                  <c:v>17</c:v>
                </c:pt>
                <c:pt idx="5">
                  <c:v>17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D3-42C9-A44C-A01BA753A2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BERT</c:v>
                </c:pt>
                <c:pt idx="1">
                  <c:v>RoBERTa</c:v>
                </c:pt>
                <c:pt idx="2">
                  <c:v>mBERT</c:v>
                </c:pt>
                <c:pt idx="3">
                  <c:v>GPT-2</c:v>
                </c:pt>
                <c:pt idx="4">
                  <c:v>XLNet</c:v>
                </c:pt>
                <c:pt idx="5">
                  <c:v>XLM-R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122</c:v>
                </c:pt>
                <c:pt idx="1">
                  <c:v>39</c:v>
                </c:pt>
                <c:pt idx="2">
                  <c:v>38</c:v>
                </c:pt>
                <c:pt idx="3">
                  <c:v>13</c:v>
                </c:pt>
                <c:pt idx="4">
                  <c:v>13</c:v>
                </c:pt>
                <c:pt idx="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A4-4797-91BB-7DD304CB2A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Attr.</c:v>
                </c:pt>
                <c:pt idx="1">
                  <c:v>Example</c:v>
                </c:pt>
                <c:pt idx="2">
                  <c:v>Elements</c:v>
                </c:pt>
                <c:pt idx="3">
                  <c:v>Probing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58</c:v>
                </c:pt>
                <c:pt idx="3">
                  <c:v>117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62-4DDE-ADDE-DA02BB6693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8580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553AF-21D1-0050-1E58-DC1E0CF38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04362-89B6-9DCD-ADE6-2984A3F3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E4A4E-8451-9991-3E2A-0A687B92A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Primary paper (survey): https://arxiv.org/abs/2504.08001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7BED7-012C-E95C-ADD5-AC5F1EF204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69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Primary paper (survey):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(motivation + “black box” framing): https://arxiv.org/abs/2504.08001
- Stochastic parrots critique: https://luiscruz.github.io/green-ai/publications/2021-03-bender-parrots.html (DOI: 10.1145/3442188.3445922)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definitions + scope: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methodology + counts (5580→876→277→160):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section “A brief overview of the Transformer architecture elements”: https://arxiv.org/abs/2504.08001
- Transformer architecture image (used in slide): https://www.techtarget.com/rms/onlineimages/transformer_model_architecture-f.png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Language counts (Table 1) + model-family counts (Table 2):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Method taxonomy + counts (Table 3): https://arxiv.org/abs/2504.08001
- Probe critique overview (background): https://aclanthology.org/N19-1419/ (structural probe as early catalyst mentioned in survey)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synthesis of syntax findings (Section 5.1 + tables): https://arxiv.org/abs/2504.08001
- Structural probe catalyst (Hewitt &amp; Manning, 2019): https://aclanthology.org/N19-1419/ (DOI: 10.18653/v1/N19-1419)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synthesis of semantics findings (Section 5.2 + Table 6):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morphology synthesis (Section 5.3):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discourse section (5.4) + “knowledge neurons” + multilingual discussion (5.5):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discussion on correlation/causation + causal probes + probing pitfalls (Section 6):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Prototype choices derived from survey taxonomy and findings: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AEE22-CCA9-14E6-5C57-3D2C1A9E8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EFC06-CD5B-D4DA-8B98-D9AA889DB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42281-3C35-3147-2A03-5D2DC954E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Prototype choices derived from survey taxonomy and findings: https://arxiv.org/abs/2504.08001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73094-0D48-F316-86D5-99C9D9CE98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6724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Prototype evaluation inspired by survey’s emphasis on layerwise representations and probing pitfalls: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conclusions and discussion: https://arxiv.org/abs/2504.08001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505CD-039F-FDE8-0A8D-1EA0BDF9C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CD62-E8ED-6152-7AF8-596B7C0FE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21D5AF-B824-43BE-9188-4842A8111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Survey conclusions and discussion: https://arxiv.org/abs/2504.08001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03330-E6BA-B350-B81E-FC36D1801D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7744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EF01D-E787-FD26-20B6-EDB11A62C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DCB81F-C1C7-01E6-0601-4CF2427F9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480E6-BE7A-7676-431B-77B287F12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Primary paper (survey): https://arxiv.org/abs/2504.08001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F1C8A-07E8-257D-BF95-C83D762959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291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0332DD-E5DF-8B79-2D37-6D997CF3D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D023A6B3-1B5A-16DC-1510-F1DDF1A9658C}"/>
              </a:ext>
            </a:extLst>
          </p:cNvPr>
          <p:cNvSpPr/>
          <p:nvPr/>
        </p:nvSpPr>
        <p:spPr>
          <a:xfrm>
            <a:off x="502920" y="2743200"/>
            <a:ext cx="11185855" cy="3429000"/>
          </a:xfrm>
          <a:prstGeom prst="rect">
            <a:avLst/>
          </a:prstGeom>
          <a:solidFill>
            <a:srgbClr val="0F2D54">
              <a:alpha val="90000"/>
            </a:srgbClr>
          </a:solidFill>
          <a:ln w="12700">
            <a:solidFill>
              <a:srgbClr val="274B7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E5B9B-02F8-3050-A2A9-F520BB06B185}"/>
              </a:ext>
            </a:extLst>
          </p:cNvPr>
          <p:cNvSpPr txBox="1"/>
          <p:nvPr/>
        </p:nvSpPr>
        <p:spPr>
          <a:xfrm>
            <a:off x="156373" y="1177750"/>
            <a:ext cx="1187894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i="1" dirty="0">
                <a:solidFill>
                  <a:schemeClr val="bg1"/>
                </a:solidFill>
              </a:rPr>
              <a:t>Linguistic Interpretability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2A6E87-F3AF-5C3C-245B-DAA6E7582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3434" y="0"/>
            <a:ext cx="1044824" cy="10462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2DC5E72-8288-BCD5-3883-68FE61DAF294}"/>
              </a:ext>
            </a:extLst>
          </p:cNvPr>
          <p:cNvSpPr txBox="1"/>
          <p:nvPr/>
        </p:nvSpPr>
        <p:spPr>
          <a:xfrm>
            <a:off x="3276970" y="2935904"/>
            <a:ext cx="5637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Natural language processing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6788E9-BEC2-C477-8323-DD99784FE170}"/>
              </a:ext>
            </a:extLst>
          </p:cNvPr>
          <p:cNvSpPr txBox="1"/>
          <p:nvPr/>
        </p:nvSpPr>
        <p:spPr>
          <a:xfrm>
            <a:off x="4818837" y="3795980"/>
            <a:ext cx="25540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Student:   Ali </a:t>
            </a:r>
            <a:r>
              <a:rPr lang="en-US" sz="2000" b="1" dirty="0" err="1">
                <a:solidFill>
                  <a:schemeClr val="bg1"/>
                </a:solidFill>
              </a:rPr>
              <a:t>Dankoob</a:t>
            </a:r>
            <a:endParaRPr lang="en-US" sz="2000" b="1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           40407024</a:t>
            </a:r>
          </a:p>
          <a:p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118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111858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Interpretability of Transformer-based PLMs</a:t>
            </a:r>
            <a:endParaRPr lang="en-US" sz="4400" i="1" dirty="0"/>
          </a:p>
        </p:txBody>
      </p:sp>
      <p:sp>
        <p:nvSpPr>
          <p:cNvPr id="3" name="Text 1"/>
          <p:cNvSpPr/>
          <p:nvPr/>
        </p:nvSpPr>
        <p:spPr>
          <a:xfrm>
            <a:off x="502920" y="1920240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rtl="1"/>
            <a:r>
              <a:rPr lang="en-US" sz="2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Review of 160 Articles + Roadmap (Prototype)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2743200"/>
            <a:ext cx="11185855" cy="3429000"/>
          </a:xfrm>
          <a:prstGeom prst="rect">
            <a:avLst/>
          </a:prstGeom>
          <a:solidFill>
            <a:srgbClr val="0F2D54">
              <a:alpha val="90000"/>
            </a:srgbClr>
          </a:solidFill>
          <a:ln w="12700">
            <a:solidFill>
              <a:srgbClr val="274B7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337560"/>
            <a:ext cx="10362895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l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and Motivation: Why is Linguistic Interpretability Important?</a:t>
            </a:r>
          </a:p>
          <a:p>
            <a:pPr marL="203200" indent="-203200" algn="l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Review Method and Scope of the Article (PRISMA-like)
Overview of Transformer and the Concept of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interpretability
Key results at 4 levels of Syntax/Semantics/Morphology/Discourse:
Methods: Probing, Analysis, Attention, Geometry Analysis, Embedding, etc.
Limitations + Prototype Idea Practical for Lesson Project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1)Problem and motivation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3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33193" y="63550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1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Interpretability at all?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5623560" cy="2347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l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models perform great, but there's a "black box" inside.
Without an understanding of the internal mechanism: it becomes difficult to detect errors, biases, and fragile behaviors.
For practical NLP: Knowing which layer/head/neuron has what knowledge debugging and targeted improvement.
For low-resource languages: If we understand where linguistic knowledge is encoded, it becomes easier to transfer/inject knowledge.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09231" y="1033272"/>
            <a:ext cx="2011680" cy="38404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54951" y="1095073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risk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36113" y="1038474"/>
            <a:ext cx="2011680" cy="384048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36113" y="107899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&amp; safety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7771" y="1426464"/>
            <a:ext cx="45262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491" y="1956824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872973" y="2534920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1"/>
            <a:r>
              <a:rPr lang="en-US" sz="16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he learn where and how?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16071" y="2157984"/>
            <a:ext cx="731520" cy="457200"/>
          </a:xfrm>
          <a:prstGeom prst="rightArrow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4411" y="2152404"/>
            <a:ext cx="731520" cy="457200"/>
          </a:xfrm>
          <a:prstGeom prst="leftArrow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703320"/>
            <a:ext cx="11185855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58768"/>
            <a:ext cx="106372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"linguistics" within the model important?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46836" y="4455160"/>
            <a:ext cx="10637215" cy="1059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really learns linguistic structures, we expect better generalization and fewer errors.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only learns statistical correlation, it may remain dependent on frequency. 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To summarize the evidence from 160 research papers on Syntax/Morphology/Semantics/Discourse in PLMs.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Definitions and Scope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4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1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63282" y="794413"/>
            <a:ext cx="20651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rtl="1"/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Keywords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92369" y="1234440"/>
            <a:ext cx="3730752" cy="20116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7240" y="1368961"/>
            <a:ext cx="1246112" cy="338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85389" y="1722178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/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this output is usually close to the output/behavior? It is often not model-agnostic and focuses on the importance of inputs.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30470" y="1197174"/>
            <a:ext cx="3730752" cy="201168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59923" y="13898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8211" y="1737360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/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to understand the internal mechanisms (layers, attention heads, neurons, embeddings) and how they reach the output.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68571" y="1234440"/>
            <a:ext cx="3730752" cy="2011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95360" y="13898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interpretability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95360" y="1737360"/>
            <a:ext cx="32735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/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whether PLMs represent/code linguistic phenomena (syntax/morphology/semantics/discourse) similar to humans.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566160"/>
            <a:ext cx="11185855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730752"/>
            <a:ext cx="106372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does this survey cover?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096512"/>
            <a:ext cx="10637215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papers (2018 to Oct 2024), focusing on Transformer-based PLMs and internal representations.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models (pre-trained) without fine-tune for specific tasks; only black-box studies have been omitted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linguistic levels are Syntax, Semantics, Morphology, and Discourse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Probing Attention/Neurons Analysis, Embedding Geometry Analysis, Ablation/Pruning, etc.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Systematic review method (PRISMA-like)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5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1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Pipeline Articles (Key Numbers)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2606040" cy="960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43560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 search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5,580 results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63824" y="1600200"/>
            <a:ext cx="164592" cy="45720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325880"/>
            <a:ext cx="2606040" cy="9601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143560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filters &amp; sampling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876 candidate papers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98464" y="1600200"/>
            <a:ext cx="164592" cy="45720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325880"/>
            <a:ext cx="2606040" cy="9601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43560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Title/abstract screening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 papers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33104" y="1600200"/>
            <a:ext cx="164592" cy="45720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1325880"/>
            <a:ext cx="260604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0" y="1435608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 + exclusions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included studies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0128" y="2560320"/>
            <a:ext cx="11185855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77240" y="272491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Delete/Important Details in Selection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77240" y="3090672"/>
            <a:ext cx="5715000" cy="27580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keywords : probe/interpret/explain+ transformer/BERT +syntax/semantic/morphology...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Filter: Period 2018–Oct 2024, focusing on English articles and mainly</a:t>
            </a:r>
          </a:p>
          <a:p>
            <a:pPr algn="l">
              <a:buSzPct val="100000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peer-reviewed articles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black-box analyses only for the final output; focus on </a:t>
            </a:r>
            <a:r>
              <a:rPr lang="en-US" sz="15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/internal.</a:t>
            </a:r>
          </a:p>
          <a:p>
            <a:pPr marL="190500" indent="-190500" algn="l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 algn="l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stages of human annotation: (1) title/abstract, (2) accurate reading and dimensional labeling.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2724912"/>
            <a:ext cx="4785055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Labeling Dimensions: Linguistic Level, Phenomena, Languages, Models, Methodology, Attitude toward PLM's Linguistic Ability, and (interpretability)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903720" y="4297680"/>
            <a:ext cx="4785055" cy="1783080"/>
          </a:xfrm>
          <a:prstGeom prst="roundRect">
            <a:avLst/>
          </a:prstGeom>
          <a:solidFill>
            <a:srgbClr val="0B1F3B">
              <a:alpha val="92000"/>
            </a:srgbClr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6425" y="4344031"/>
            <a:ext cx="4419295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 algn="l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→ "What can be put into practice?“</a:t>
            </a:r>
          </a:p>
          <a:p>
            <a:pPr marL="165100" indent="-165100" algn="l">
              <a:buSzPct val="100000"/>
              <a:buChar char="•"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 algn="l">
              <a:buSzPct val="100000"/>
              <a:buChar char="•"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 algn="l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must demonstrate an intrinsic interpretability technique (e.g., probing).</a:t>
            </a:r>
          </a:p>
          <a:p>
            <a:pPr marL="165100" indent="-165100" algn="l">
              <a:buSzPct val="100000"/>
              <a:buChar char="•"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 algn="l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Chart + Analysis + Reproducible Code.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Transformer for Interpretability (Technical Summary)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6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 studied in the studies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598932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(BPE/</a:t>
            </a:r>
            <a:r>
              <a:rPr lang="en-US" sz="15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</a:t>
            </a: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can make morphology difficult to study.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layer + L Transformer layers → contextual embeddings in each layer.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heads → patterns of dependence, coreference, constituency...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 (FFN) + residual/</a:t>
            </a:r>
            <a:r>
              <a:rPr lang="en-US" sz="15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"store/convert" knowledge in layers.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view: lower (1–3), middle (4–7), upper (8–12) for BERT-base.</a:t>
            </a:r>
          </a:p>
          <a:p>
            <a:pPr marL="190500" indent="-190500">
              <a:buSzPct val="100000"/>
              <a:buChar char="•"/>
            </a:pPr>
            <a:endParaRPr lang="en-US" sz="15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vs Decoder vs Encoder-Decoder → Difference in Attention (Masking) and Application.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1005840"/>
            <a:ext cx="510235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Image 0" descr="/mnt/data/transformer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765" y="1097280"/>
            <a:ext cx="4618182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629400" y="5742432"/>
            <a:ext cx="4983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model architecture (encoder/decoder)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Survey Data: Languages and Architectures Surveyed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7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focus: Still English-centric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145/160 studies include English, but other languages have been gradually added (e.g., German, French, Russian, Persian...).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57607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languages in analyzed PLMs (count of studies)</a:t>
            </a:r>
            <a:endParaRPr lang="en-US" sz="12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731520" y="1993392"/>
          <a:ext cx="548640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hape 9"/>
          <p:cNvSpPr/>
          <p:nvPr/>
        </p:nvSpPr>
        <p:spPr>
          <a:xfrm>
            <a:off x="6492240" y="1600200"/>
            <a:ext cx="5196535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1737360"/>
            <a:ext cx="4830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studied model families (count of studies)</a:t>
            </a:r>
            <a:endParaRPr lang="en-US" sz="1200" dirty="0"/>
          </a:p>
        </p:txBody>
      </p:sp>
      <p:graphicFrame>
        <p:nvGraphicFramePr>
          <p:cNvPr id="14" name="Chart 1"/>
          <p:cNvGraphicFramePr/>
          <p:nvPr/>
        </p:nvGraphicFramePr>
        <p:xfrm>
          <a:off x="6720840" y="1993392"/>
          <a:ext cx="4739335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Shape 11"/>
          <p:cNvSpPr/>
          <p:nvPr/>
        </p:nvSpPr>
        <p:spPr>
          <a:xfrm>
            <a:off x="502920" y="5715000"/>
            <a:ext cx="11185855" cy="43891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77240" y="580644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The heavy focus on BERT/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due to its "parameter availability" and lower cost of internal analysis.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 Common Methods of Discovering Language Knowledge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8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Family Method (Taxonomy Article)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9893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371600"/>
            <a:ext cx="5532120" cy="105156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37160" cy="10515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508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attribution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184708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importance of each token/span relative to the output (gradient, perturbation, LIME...).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514600"/>
            <a:ext cx="5532120" cy="105156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514600"/>
            <a:ext cx="137160" cy="1051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651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Example-based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0120" y="299008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Designed/Adversarial/Counterfactual sentences and view the output change/display.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5532120" cy="105156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657600"/>
            <a:ext cx="137160" cy="1051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794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elements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60120" y="413308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Analysisattention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heads/neurons/FFN/embeddings + pruning/ablation/visualization.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800600"/>
            <a:ext cx="5532120" cy="105156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800600"/>
            <a:ext cx="137160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4937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60120" y="527608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classifier tutorial on intermediate representations to predict language labels (POS, dep, SRL...).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629400" y="1188720"/>
            <a:ext cx="5059375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12280" y="1325880"/>
            <a:ext cx="46936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each method appears (160 papers)</a:t>
            </a:r>
            <a:endParaRPr lang="en-US" sz="12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6812280" y="1691640"/>
          <a:ext cx="4602175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Text 25"/>
          <p:cNvSpPr/>
          <p:nvPr/>
        </p:nvSpPr>
        <p:spPr>
          <a:xfrm>
            <a:off x="6812280" y="470916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Withdrawal: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12280" y="4983480"/>
            <a:ext cx="4602175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 is the dominant method (117 studies).
A combination of several methods usually yields richer results.
Probing risk: "Memorizing the task" rather than recognizing the knowledge of the model → requires control/causal probes.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7) Findings — Syntax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9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syntax in PLMs? Probably yes — but with a caveat.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54864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143000"/>
            <a:ext cx="137160" cy="2331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30759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Positive evidence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1645920"/>
            <a:ext cx="5074920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dependency-like structure of embeddings (multiple studies).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report that syntax is more powerful than semantics code.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3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</a:t>
            </a: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evidence of syntactic transfer between languages.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143000"/>
            <a:ext cx="54864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1143000"/>
            <a:ext cx="137160" cy="2331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30759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Negative/ambiguous evidence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1645920"/>
            <a:ext cx="5074920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Dependence on word order in some settings.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 in Specific Phenomena: Agreement in Low-Frequency Forms, Reflexive Anaphora...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syntax/semantics separation is not always clear (inconsistent results).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54864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794760"/>
            <a:ext cx="137160" cy="2331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95935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</a:t>
            </a:r>
            <a:r>
              <a:rPr lang="en-US" sz="1500" b="1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elements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5074920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BERT-base: Often important "middle layers" are reported (but not complete consensus).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tasks: the simultaneous role of </a:t>
            </a:r>
            <a:r>
              <a:rPr lang="en-US" sz="13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lower+middle</a:t>
            </a: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distribution across the entire model.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heads are sometimes specialized in dependency relationships.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94760"/>
            <a:ext cx="54864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63640" y="3794760"/>
            <a:ext cx="137160" cy="2331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3959352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Embedding geometry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297680"/>
            <a:ext cx="5074920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linear spaces are reported below for syntax and semantics.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Low-dimensional subspaces are reported for some syntactic variables (e.g., POS/agreement).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However, overlap between linguistic concepts has also been observed.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8) Findings — (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)Semantics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result: Semantics are largely present, but heterogeneous and sometimes weaker than syntax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357621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234440"/>
            <a:ext cx="3576218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344168"/>
            <a:ext cx="31190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920240"/>
            <a:ext cx="3119018" cy="883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 and sense-level differences (monolingual is better than </a:t>
            </a:r>
            <a:r>
              <a:rPr lang="en-US" sz="12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</a:t>
            </a: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some studies).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of scale/number/date and some semantic roles.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meaning of idioms (literal vs figurative) in some settings.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7738" y="1234440"/>
            <a:ext cx="357621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07738" y="1234440"/>
            <a:ext cx="357621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6338" y="1344168"/>
            <a:ext cx="31190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and Cons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36338" y="1920240"/>
            <a:ext cx="3119018" cy="883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Mixed results; unstable in some models/sizes.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Context-dependent reasoning/factual abstraction has been reported in some works.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semantics (e.g., scientific) are sometimes weak and cause chain errors (e.g., </a:t>
            </a:r>
            <a:r>
              <a:rPr lang="en-US" sz="12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coref</a:t>
            </a: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12557" y="1234440"/>
            <a:ext cx="357621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234440"/>
            <a:ext cx="3576218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41157" y="1344168"/>
            <a:ext cx="31190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and geometry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41157" y="1920240"/>
            <a:ext cx="3119018" cy="2807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definitive consensus on </a:t>
            </a:r>
            <a:r>
              <a:rPr lang="en-US" sz="12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location (middle vs upper vs lower depending on the model).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lower layers are often lexical.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existence of separate subspaces is reported for semantics and syntax.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580644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9) Findings — Morphology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is less studied, and tokenization is a serious obstacle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9893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533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 (from the Survey)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691640"/>
            <a:ext cx="5486400" cy="1409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studies examine morphology along with syntax (not independent).</a:t>
            </a: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(</a:t>
            </a:r>
            <a:r>
              <a:rPr lang="en-US" sz="14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</a:t>
            </a: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/BPE) makes morphemes not always equivalent to tokens.</a:t>
            </a: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Layerwise</a:t>
            </a: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Sometimes similar to syntax (middle/upper), but depending on the language and model.</a:t>
            </a: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phenomena (number/tense) are reported in linear subspaces.</a:t>
            </a: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en-US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common 'morphosyntax' neurons in </a:t>
            </a:r>
            <a:r>
              <a:rPr lang="en-US" sz="140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</a:t>
            </a: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been reported between languages.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629400" y="1188720"/>
            <a:ext cx="5059375" cy="23317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1353312"/>
            <a:ext cx="4647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for Prototype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12280" y="1645920"/>
            <a:ext cx="4647895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Persian/Turkish/Russian is selected: Be sure to report the sensitivity of the tokenizer.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class work: Agreement (number/tense) is very implementable with probing.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possible to specify which layers are better for number/tense.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29400" y="3703320"/>
            <a:ext cx="5059375" cy="2377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3867912"/>
            <a:ext cx="4647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Suggested Experiment (Quick)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12280" y="4160520"/>
            <a:ext cx="4647895" cy="18220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UD POS + Morph features (small subset).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Extract: embeddings of multiple layers (e.g., 1,4,8,12).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Probe: Logistic regression/small MLP for features like Number/Tense.</a:t>
            </a:r>
          </a:p>
          <a:p>
            <a:pPr marL="165100" indent="-165100">
              <a:buSzPct val="100000"/>
              <a:buChar char="•"/>
            </a:pPr>
            <a:endParaRPr lang="en-US" sz="13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accuracy per layer + chart + analysis.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10) Discourse and Minor Issues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lot of research that has been done on the subject (6 articles), but it has some interesting findings.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3576218" cy="43434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1371600"/>
            <a:ext cx="31190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Discourse findings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737359"/>
            <a:ext cx="3119018" cy="22888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 and discourse relationships are seen to some extent in embeddings.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sensitivity to disfluency decreases with the depth of the layer (the representations become more similar).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RST: Some jobs report the intermediate layers more strongly.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07738" y="1234440"/>
            <a:ext cx="3576218" cy="43434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36338" y="1371600"/>
            <a:ext cx="31190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Knowledge-domain neurons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36338" y="1737360"/>
            <a:ext cx="3119018" cy="24518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presence of "scoped" neurons (social media / science / noun-heavy ...).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by clustering the activation of neurons on sentences.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project: A simple simulation can be done with activation statistics.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2557" y="1234440"/>
            <a:ext cx="3576218" cy="434340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41157" y="1371600"/>
            <a:ext cx="31190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shared space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41157" y="1737359"/>
            <a:ext cx="3119018" cy="27070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Common parameters → alignment of structures between languages.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evidence: Some phenomena are shared, some are not (e.g., agreement in masked LMs).</a:t>
            </a: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endParaRPr lang="en-US" sz="12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order plays a key role in several studies.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5715000"/>
            <a:ext cx="11185855" cy="43891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1520" y="580644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this slide as "Lesser-said but interesting"</a:t>
            </a:r>
            <a:r>
              <a:rPr lang="fa-I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11) Caveats, pitfalls, open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aren't interpretability results always "proven"?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9893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533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≠ Causation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691639"/>
            <a:ext cx="5486400" cy="35041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information may be "extractable" in embedding, but the model may not use it in inference.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may learn the task rather than recognize the knowledge of the model.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Solutions: control tasks, causal probes (amnesic/information-theoretic/dropout...).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metric (accuracy only) can be misleading.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629400" y="1188720"/>
            <a:ext cx="5059375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1353312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have new LLMs become harder to analyze?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12280" y="1691640"/>
            <a:ext cx="46021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↑ → Cost of extraction/internal analysis ↑Some models are closed (parameters/heads are not available).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to prompting in studies ↑, but transparency/internal analysis ↓</a:t>
            </a: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endParaRPr lang="fa-IR" sz="1400" dirty="0">
              <a:solidFill>
                <a:srgbClr val="11182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Research is still very much focused on the BERT-family.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95160" y="4599432"/>
            <a:ext cx="4419295" cy="942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12)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</a:rPr>
              <a:t>Prototype – What Was Implemented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0840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/>
              <a:t>Prototype Overview</a:t>
            </a:r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59893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27632"/>
            <a:ext cx="5486400" cy="41470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Model: </a:t>
            </a:r>
            <a:r>
              <a:rPr lang="en-US" dirty="0" err="1"/>
              <a:t>bert</a:t>
            </a:r>
            <a:r>
              <a:rPr lang="en-US" dirty="0"/>
              <a:t>-base-multilingual-cased (Transformer encoder) 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Data: Universal Dependencies (UD) – POS annotations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Method: Layer-wise probing of contextual embeddings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Analysis: Extraction of hidden states from multiple Transformer layers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Goal: Demonstrate how syntactic information is distributed across layers</a:t>
            </a:r>
            <a:br>
              <a:rPr lang="en-US" sz="1400" dirty="0"/>
            </a:br>
            <a:br>
              <a:rPr lang="en-US" sz="1400" dirty="0"/>
            </a:b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29400" y="3886200"/>
            <a:ext cx="5059375" cy="21945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4343400"/>
            <a:ext cx="4647895" cy="14312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r>
              <a:rPr lang="en-US" sz="2400" dirty="0"/>
              <a:t>&gt; This prototype is inspired by the dominant interpretability methods identified in the survey.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1FB178-3580-023F-3098-73F8FBCAA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FF50F7-52FC-AEE5-3E77-BCEFB0DE9924}"/>
              </a:ext>
            </a:extLst>
          </p:cNvPr>
          <p:cNvSpPr/>
          <p:nvPr/>
        </p:nvSpPr>
        <p:spPr>
          <a:xfrm>
            <a:off x="305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D4FF0D-93F8-8608-9197-1ED1C6F4548D}"/>
              </a:ext>
            </a:extLst>
          </p:cNvPr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chemeClr val="bg1"/>
                </a:solidFill>
              </a:rPr>
              <a:t>13) Demo Results – Layer-wise Probing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98B7D5C-DADB-3A76-B535-44323AE06BE9}"/>
              </a:ext>
            </a:extLst>
          </p:cNvPr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85CC85B-968F-3106-7D2E-5A3076AC9034}"/>
              </a:ext>
            </a:extLst>
          </p:cNvPr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 / 19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BDE4933-9CB7-E0F5-1A34-63A1520F9D0C}"/>
              </a:ext>
            </a:extLst>
          </p:cNvPr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D1757A9-AA21-8F97-8FA2-E7D8AFF5C765}"/>
              </a:ext>
            </a:extLst>
          </p:cNvPr>
          <p:cNvSpPr/>
          <p:nvPr/>
        </p:nvSpPr>
        <p:spPr>
          <a:xfrm>
            <a:off x="502920" y="70840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/>
              <a:t>Prototype Overview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0123A5F-4A4D-0994-DA44-C59BA3711B75}"/>
              </a:ext>
            </a:extLst>
          </p:cNvPr>
          <p:cNvSpPr/>
          <p:nvPr/>
        </p:nvSpPr>
        <p:spPr>
          <a:xfrm>
            <a:off x="502920" y="1188720"/>
            <a:ext cx="4834624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41FF193-EC28-4EB4-E107-1477DEB5B2A1}"/>
              </a:ext>
            </a:extLst>
          </p:cNvPr>
          <p:cNvSpPr/>
          <p:nvPr/>
        </p:nvSpPr>
        <p:spPr>
          <a:xfrm>
            <a:off x="777240" y="1627632"/>
            <a:ext cx="4432713" cy="41470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400" dirty="0"/>
              <a:t>Key Observations</a:t>
            </a:r>
            <a:br>
              <a:rPr lang="en-US" sz="2400" dirty="0"/>
            </a:br>
            <a:r>
              <a:rPr lang="en-US" sz="2400" dirty="0"/>
              <a:t>Syntactic information is not uniformly distributed across layers</a:t>
            </a:r>
            <a:br>
              <a:rPr lang="en-US" sz="2400" dirty="0"/>
            </a:br>
            <a:r>
              <a:rPr lang="en-US" sz="2400" dirty="0"/>
              <a:t>Middle layers tend to show stronger POS predictability</a:t>
            </a:r>
            <a:br>
              <a:rPr lang="en-US" sz="2400" dirty="0"/>
            </a:br>
            <a:r>
              <a:rPr lang="en-US" sz="2400" dirty="0"/>
              <a:t>Lower layers capture more lexical information</a:t>
            </a:r>
            <a:br>
              <a:rPr lang="en-US" sz="2400" dirty="0"/>
            </a:br>
            <a:r>
              <a:rPr lang="en-US" sz="2400" dirty="0"/>
              <a:t>Upper layers show more abstract representations</a:t>
            </a:r>
            <a:endParaRPr lang="en-US" sz="16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1466993-A081-6193-7F81-728EEF319CBF}"/>
              </a:ext>
            </a:extLst>
          </p:cNvPr>
          <p:cNvSpPr/>
          <p:nvPr/>
        </p:nvSpPr>
        <p:spPr>
          <a:xfrm>
            <a:off x="6316601" y="5593158"/>
            <a:ext cx="5059375" cy="466769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EA6249E-67FF-DA2F-4EBB-0EDFB6225880}"/>
              </a:ext>
            </a:extLst>
          </p:cNvPr>
          <p:cNvSpPr/>
          <p:nvPr/>
        </p:nvSpPr>
        <p:spPr>
          <a:xfrm>
            <a:off x="6766560" y="5593158"/>
            <a:ext cx="3776025" cy="5830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buSzPct val="100000"/>
              <a:buChar char="•"/>
            </a:pP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BF99F0-7EC3-E018-9547-F160FDCEBC94}"/>
              </a:ext>
            </a:extLst>
          </p:cNvPr>
          <p:cNvSpPr txBox="1"/>
          <p:nvPr/>
        </p:nvSpPr>
        <p:spPr>
          <a:xfrm>
            <a:off x="7448106" y="5626487"/>
            <a:ext cx="27963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layer-wise accuracy plot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7B822F8-6F6F-1F80-95DE-7D2266B65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475" y="1094998"/>
            <a:ext cx="6071628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818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rrow: Down 33">
            <a:extLst>
              <a:ext uri="{FF2B5EF4-FFF2-40B4-BE49-F238E27FC236}">
                <a16:creationId xmlns:a16="http://schemas.microsoft.com/office/drawing/2014/main" id="{4A56D394-8802-99B8-810D-E9E89FEA9EC3}"/>
              </a:ext>
            </a:extLst>
          </p:cNvPr>
          <p:cNvSpPr/>
          <p:nvPr/>
        </p:nvSpPr>
        <p:spPr>
          <a:xfrm>
            <a:off x="6288962" y="2093976"/>
            <a:ext cx="3711155" cy="720092"/>
          </a:xfrm>
          <a:prstGeom prst="downArrow">
            <a:avLst/>
          </a:prstGeom>
          <a:solidFill>
            <a:srgbClr val="1D314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2060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8016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14)</a:t>
            </a:r>
            <a:r>
              <a:rPr lang="en-US" dirty="0"/>
              <a:t> </a:t>
            </a:r>
            <a:r>
              <a:rPr lang="en-US" sz="2000" b="1" dirty="0">
                <a:solidFill>
                  <a:schemeClr val="bg1"/>
                </a:solidFill>
              </a:rPr>
              <a:t>Attention Visualization (Example)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Attention-Based Analysis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2057400" cy="8229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(UD subset)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06040" y="1463040"/>
            <a:ext cx="228600" cy="36576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1234440"/>
            <a:ext cx="2057400" cy="82296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2608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(BPE/WordPiece)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37760" y="1463040"/>
            <a:ext cx="228600" cy="36576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66360" y="1234440"/>
            <a:ext cx="2057400" cy="8229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5780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(bert-base)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269480" y="1463040"/>
            <a:ext cx="228600" cy="36576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0" y="1234440"/>
            <a:ext cx="2057400" cy="8229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8952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embeddings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601200" y="1463040"/>
            <a:ext cx="228600" cy="365760"/>
          </a:xfrm>
          <a:prstGeom prst="rightArrow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29800" y="1234440"/>
            <a:ext cx="2057400" cy="8229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921240" y="1344168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(LogReg/MLP)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2960" y="2146554"/>
            <a:ext cx="2423160" cy="589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attention heatmap image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02920" y="2834640"/>
            <a:ext cx="11185855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2885322"/>
            <a:ext cx="3453100" cy="31904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2000" dirty="0"/>
              <a:t>Selected attention heads show structured patterns</a:t>
            </a:r>
            <a:br>
              <a:rPr lang="en-US" sz="1600" dirty="0"/>
            </a:br>
            <a:r>
              <a:rPr lang="en-US" sz="2000" dirty="0"/>
              <a:t>Some heads align with syntactic relations (e.g., local dependencies)</a:t>
            </a:r>
            <a:br>
              <a:rPr lang="en-US" sz="1600" dirty="0"/>
            </a:br>
            <a:r>
              <a:rPr lang="en-US" sz="2000" dirty="0"/>
              <a:t>Attention analysis complements probing but does not replace it</a:t>
            </a:r>
            <a:endParaRPr lang="en-US" sz="16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E10BE8E-C1C3-A5F8-D892-1AE2EA73F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502" y="2848357"/>
            <a:ext cx="6904076" cy="322744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99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1" y="128016"/>
            <a:ext cx="28853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15)</a:t>
            </a:r>
            <a:r>
              <a:rPr lang="en-US" b="1" dirty="0">
                <a:solidFill>
                  <a:schemeClr val="bg1"/>
                </a:solidFill>
              </a:rPr>
              <a:t> Limitations &amp; Disclaimer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 / 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188720"/>
            <a:ext cx="11185855" cy="42267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597364"/>
            <a:ext cx="4298743" cy="40364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Important Caveats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This is a survey-based prototype, not a replication study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Probing measures extractability, not causal usage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Results are illustrative and educational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dirty="0"/>
              <a:t>Small-scale experiment with limited data and models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5852159"/>
            <a:ext cx="11185855" cy="372848"/>
          </a:xfrm>
          <a:prstGeom prst="rect">
            <a:avLst/>
          </a:prstGeom>
          <a:solidFill>
            <a:srgbClr val="0B1F3B">
              <a:alpha val="92000"/>
            </a:srgbClr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1573" y="5897881"/>
            <a:ext cx="566854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chemeClr val="bg1"/>
                </a:solidFill>
              </a:rPr>
              <a:t>Interpretability results should be interpreted with caution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1A6504-2278-4F45-570A-1B9ED4C418F7}"/>
              </a:ext>
            </a:extLst>
          </p:cNvPr>
          <p:cNvSpPr txBox="1"/>
          <p:nvPr/>
        </p:nvSpPr>
        <p:spPr>
          <a:xfrm>
            <a:off x="6578059" y="75924"/>
            <a:ext cx="5110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000" b="1" dirty="0">
                <a:solidFill>
                  <a:schemeClr val="bg1"/>
                </a:solidFill>
              </a:rPr>
              <a:t>Why This Prototype Is Valid for the Course  (16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697E6B-F735-4CCC-8F9D-327E9C88E30C}"/>
              </a:ext>
            </a:extLst>
          </p:cNvPr>
          <p:cNvSpPr txBox="1"/>
          <p:nvPr/>
        </p:nvSpPr>
        <p:spPr>
          <a:xfrm>
            <a:off x="6315740" y="1611541"/>
            <a:ext cx="497603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The reference paper is a survey, not an experimental benchmark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The prototype directly implements core methods identified in the survey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Demonstrates practical feasibility of interpretability techniques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Fully reproducible and aligned with course requirements</a:t>
            </a:r>
            <a:br>
              <a:rPr lang="en-US" dirty="0"/>
            </a:b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31894A-20A5-DBFA-E850-8A0EAFC42920}"/>
              </a:ext>
            </a:extLst>
          </p:cNvPr>
          <p:cNvSpPr txBox="1"/>
          <p:nvPr/>
        </p:nvSpPr>
        <p:spPr>
          <a:xfrm>
            <a:off x="9881190" y="805083"/>
            <a:ext cx="1410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Justification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76B4CF-44DD-ECAF-94C7-669F112E1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9B8FA0-975F-7589-409B-90D9873FB92F}"/>
              </a:ext>
            </a:extLst>
          </p:cNvPr>
          <p:cNvSpPr/>
          <p:nvPr/>
        </p:nvSpPr>
        <p:spPr>
          <a:xfrm>
            <a:off x="0" y="0"/>
            <a:ext cx="12191999" cy="566928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032E5F-46E9-5C22-8881-5214AFEEFD3A}"/>
              </a:ext>
            </a:extLst>
          </p:cNvPr>
          <p:cNvSpPr/>
          <p:nvPr/>
        </p:nvSpPr>
        <p:spPr>
          <a:xfrm>
            <a:off x="502921" y="128016"/>
            <a:ext cx="28853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17)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</a:rPr>
              <a:t>Takeaways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6D4F8CF-247C-6C47-19C0-5563074BAFAC}"/>
              </a:ext>
            </a:extLst>
          </p:cNvPr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C196B7D-E079-9569-51C5-48350048A91F}"/>
              </a:ext>
            </a:extLst>
          </p:cNvPr>
          <p:cNvSpPr/>
          <p:nvPr/>
        </p:nvSpPr>
        <p:spPr>
          <a:xfrm>
            <a:off x="502920" y="6446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18 / 19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B057608-4E45-CF7A-D085-3C7A4CD5E5FA}"/>
              </a:ext>
            </a:extLst>
          </p:cNvPr>
          <p:cNvSpPr/>
          <p:nvPr/>
        </p:nvSpPr>
        <p:spPr>
          <a:xfrm>
            <a:off x="8671255" y="6446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Prototype-ready deck</a:t>
            </a: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DA6FF4-B005-D988-9E74-6811DCAFB551}"/>
              </a:ext>
            </a:extLst>
          </p:cNvPr>
          <p:cNvSpPr/>
          <p:nvPr/>
        </p:nvSpPr>
        <p:spPr>
          <a:xfrm>
            <a:off x="502920" y="1188720"/>
            <a:ext cx="11185855" cy="42267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124FDB9-A4C9-22B5-9E35-EFF46E844FAD}"/>
              </a:ext>
            </a:extLst>
          </p:cNvPr>
          <p:cNvSpPr/>
          <p:nvPr/>
        </p:nvSpPr>
        <p:spPr>
          <a:xfrm>
            <a:off x="777240" y="1597364"/>
            <a:ext cx="4298743" cy="37614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000" dirty="0"/>
              <a:t>Transformer-based PLMs encode linguistic information internally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000" dirty="0"/>
              <a:t>Probing is a practical and widely used interpretability method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000" dirty="0"/>
              <a:t>Linguistic knowledge varies across layers and models</a:t>
            </a:r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>
              <a:buSzPct val="100000"/>
              <a:buFont typeface="Wingdings" panose="05000000000000000000" pitchFamily="2" charset="2"/>
              <a:buChar char="ü"/>
            </a:pPr>
            <a:r>
              <a:rPr lang="en-US" sz="2000" dirty="0"/>
              <a:t>Small, well-designed prototypes are sufficient for educational analysis</a:t>
            </a:r>
            <a:endParaRPr 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9EF5B4-A046-8338-5D8C-B351E260C776}"/>
              </a:ext>
            </a:extLst>
          </p:cNvPr>
          <p:cNvSpPr txBox="1"/>
          <p:nvPr/>
        </p:nvSpPr>
        <p:spPr>
          <a:xfrm>
            <a:off x="6578059" y="75924"/>
            <a:ext cx="5110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000" dirty="0">
                <a:solidFill>
                  <a:schemeClr val="bg1"/>
                </a:solidFill>
              </a:rPr>
              <a:t>Prepared Answers </a:t>
            </a:r>
            <a:r>
              <a:rPr lang="en-US" sz="2000" b="1" dirty="0">
                <a:solidFill>
                  <a:schemeClr val="bg1"/>
                </a:solidFill>
              </a:rPr>
              <a:t>(18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55C4CD-36C1-91A4-B5F6-D1F2BD029A3D}"/>
              </a:ext>
            </a:extLst>
          </p:cNvPr>
          <p:cNvSpPr txBox="1"/>
          <p:nvPr/>
        </p:nvSpPr>
        <p:spPr>
          <a:xfrm>
            <a:off x="6438723" y="1597364"/>
            <a:ext cx="497603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Why probing?→ Because it is the most common and practical method identified in the survey.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Does extraction mean usage?→ No. Extractability does not imply causal reliance.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endParaRPr lang="en-US" dirty="0"/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dirty="0"/>
              <a:t>Why BERT?→ Open architecture, lower computational cost, and widespread use in interpretability studies.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E88A2C-1BFA-E0CE-076E-3F82E80428C9}"/>
              </a:ext>
            </a:extLst>
          </p:cNvPr>
          <p:cNvSpPr txBox="1"/>
          <p:nvPr/>
        </p:nvSpPr>
        <p:spPr>
          <a:xfrm>
            <a:off x="1105785" y="805083"/>
            <a:ext cx="19138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Final Takeaways</a:t>
            </a:r>
            <a:br>
              <a:rPr lang="en-US" b="1" dirty="0"/>
            </a:b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94657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944D0B-6755-FFDC-FE40-EA3C5B6DC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60B01-F7CD-15E1-B480-CEAC26974D23}"/>
              </a:ext>
            </a:extLst>
          </p:cNvPr>
          <p:cNvSpPr/>
          <p:nvPr/>
        </p:nvSpPr>
        <p:spPr>
          <a:xfrm>
            <a:off x="3579297" y="570437"/>
            <a:ext cx="5033099" cy="13255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</a:t>
            </a:r>
            <a:endParaRPr lang="en-US" sz="11500" b="1" i="1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DAB6EC9-1AC4-B567-C661-09D89253BE10}"/>
              </a:ext>
            </a:extLst>
          </p:cNvPr>
          <p:cNvSpPr/>
          <p:nvPr/>
        </p:nvSpPr>
        <p:spPr>
          <a:xfrm>
            <a:off x="502920" y="2581053"/>
            <a:ext cx="11185855" cy="3429000"/>
          </a:xfrm>
          <a:prstGeom prst="rect">
            <a:avLst/>
          </a:prstGeom>
          <a:solidFill>
            <a:srgbClr val="0F2D54">
              <a:alpha val="90000"/>
            </a:srgbClr>
          </a:solidFill>
          <a:ln w="12700">
            <a:solidFill>
              <a:srgbClr val="274B7A"/>
            </a:solidFill>
            <a:prstDash val="solid"/>
          </a:ln>
          <a:effectLst>
            <a:outerShdw blurRad="38100" dist="1905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630E72E-6D1E-051F-37E2-C1D28F5EFF18}"/>
              </a:ext>
            </a:extLst>
          </p:cNvPr>
          <p:cNvSpPr/>
          <p:nvPr/>
        </p:nvSpPr>
        <p:spPr>
          <a:xfrm>
            <a:off x="1445874" y="3816556"/>
            <a:ext cx="9299944" cy="9579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6000" b="1" i="1" dirty="0">
                <a:solidFill>
                  <a:schemeClr val="bg1"/>
                </a:solidFill>
              </a:rPr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981752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2959</Words>
  <Application>Microsoft Office PowerPoint</Application>
  <PresentationFormat>Widescreen</PresentationFormat>
  <Paragraphs>367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Neo (MSc AI)</dc:creator>
  <cp:lastModifiedBy>ALI</cp:lastModifiedBy>
  <cp:revision>13</cp:revision>
  <dcterms:created xsi:type="dcterms:W3CDTF">2026-02-02T00:47:50Z</dcterms:created>
  <dcterms:modified xsi:type="dcterms:W3CDTF">2026-02-05T20:59:16Z</dcterms:modified>
</cp:coreProperties>
</file>