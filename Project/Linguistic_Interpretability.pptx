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8.xml" ContentType="application/vnd.openxmlformats-officedocument.presentationml.notesSlide+xml"/>
  <Override PartName="/ppt/charts/chart3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71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72" r:id="rId16"/>
    <p:sldId id="269" r:id="rId17"/>
    <p:sldId id="270" r:id="rId18"/>
    <p:sldId id="273" r:id="rId19"/>
    <p:sldId id="275" r:id="rId2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D314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1" d="100"/>
          <a:sy n="121" d="100"/>
        </p:scale>
        <p:origin x="485" y="1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Studies</c:v>
                </c:pt>
              </c:strCache>
            </c:strRef>
          </c:tx>
          <c:spPr>
            <a:solidFill>
              <a:srgbClr val="1D4ED8"/>
            </a:solidFill>
            <a:effectLst/>
          </c:spPr>
          <c:invertIfNegative val="0"/>
          <c:cat>
            <c:strRef>
              <c:f>Sheet1!$A$2:$A$11</c:f>
              <c:strCache>
                <c:ptCount val="10"/>
                <c:pt idx="0">
                  <c:v>EN</c:v>
                </c:pt>
                <c:pt idx="1">
                  <c:v>DE</c:v>
                </c:pt>
                <c:pt idx="2">
                  <c:v>FR</c:v>
                </c:pt>
                <c:pt idx="3">
                  <c:v>RU</c:v>
                </c:pt>
                <c:pt idx="4">
                  <c:v>FI</c:v>
                </c:pt>
                <c:pt idx="5">
                  <c:v>TR</c:v>
                </c:pt>
                <c:pt idx="6">
                  <c:v>ZH</c:v>
                </c:pt>
                <c:pt idx="7">
                  <c:v>IT</c:v>
                </c:pt>
                <c:pt idx="8">
                  <c:v>ES</c:v>
                </c:pt>
                <c:pt idx="9">
                  <c:v>FA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145</c:v>
                </c:pt>
                <c:pt idx="1">
                  <c:v>21</c:v>
                </c:pt>
                <c:pt idx="2">
                  <c:v>20</c:v>
                </c:pt>
                <c:pt idx="3">
                  <c:v>20</c:v>
                </c:pt>
                <c:pt idx="4">
                  <c:v>17</c:v>
                </c:pt>
                <c:pt idx="5">
                  <c:v>17</c:v>
                </c:pt>
                <c:pt idx="6">
                  <c:v>14</c:v>
                </c:pt>
                <c:pt idx="7">
                  <c:v>14</c:v>
                </c:pt>
                <c:pt idx="8">
                  <c:v>14</c:v>
                </c:pt>
                <c:pt idx="9">
                  <c:v>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0D3-42C9-A44C-A01BA753A29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Studies</c:v>
                </c:pt>
              </c:strCache>
            </c:strRef>
          </c:tx>
          <c:spPr>
            <a:solidFill>
              <a:srgbClr val="0891B2"/>
            </a:solidFill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BERT</c:v>
                </c:pt>
                <c:pt idx="1">
                  <c:v>RoBERTa</c:v>
                </c:pt>
                <c:pt idx="2">
                  <c:v>mBERT</c:v>
                </c:pt>
                <c:pt idx="3">
                  <c:v>GPT-2</c:v>
                </c:pt>
                <c:pt idx="4">
                  <c:v>XLNet</c:v>
                </c:pt>
                <c:pt idx="5">
                  <c:v>XLM-R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122</c:v>
                </c:pt>
                <c:pt idx="1">
                  <c:v>39</c:v>
                </c:pt>
                <c:pt idx="2">
                  <c:v>38</c:v>
                </c:pt>
                <c:pt idx="3">
                  <c:v>13</c:v>
                </c:pt>
                <c:pt idx="4">
                  <c:v>13</c:v>
                </c:pt>
                <c:pt idx="5">
                  <c:v>11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3A4-4797-91BB-7DD304CB2A6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Papers</c:v>
                </c:pt>
              </c:strCache>
            </c:strRef>
          </c:tx>
          <c:spPr>
            <a:solidFill>
              <a:srgbClr val="D97706"/>
            </a:solidFill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Attr.</c:v>
                </c:pt>
                <c:pt idx="1">
                  <c:v>Example</c:v>
                </c:pt>
                <c:pt idx="2">
                  <c:v>Elements</c:v>
                </c:pt>
                <c:pt idx="3">
                  <c:v>Probing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16</c:v>
                </c:pt>
                <c:pt idx="1">
                  <c:v>16</c:v>
                </c:pt>
                <c:pt idx="2">
                  <c:v>58</c:v>
                </c:pt>
                <c:pt idx="3">
                  <c:v>117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C62-4DDE-ADDE-DA02BB66931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585803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D553AF-21D1-0050-1E58-DC1E0CF389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D204362-89B6-9DCD-ADE6-2984A3F3937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D5E4A4E-8451-9991-3E2A-0A687B92A9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Primary paper (survey): https://arxiv.org/abs/2504.08001
[/Sources]
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B7BED7-012C-E95C-ADD5-AC5F1EF2044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086900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Primary paper (survey): https://arxiv.org/abs/2504.08001
[/Sources]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Survey (motivation + “black box” framing): https://arxiv.org/abs/2504.08001
- Stochastic parrots critique: https://luiscruz.github.io/green-ai/publications/2021-03-bender-parrots.html (DOI: 10.1145/3442188.3445922)
[/Sources]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Survey definitions + scope: https://arxiv.org/abs/2504.08001
[/Sources]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Survey methodology + counts (5580→876→277→160): https://arxiv.org/abs/2504.08001
[/Sources]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Survey section “A brief overview of the Transformer architecture elements”: https://arxiv.org/abs/2504.08001
- Transformer architecture image (used in slide): https://www.techtarget.com/rms/onlineimages/transformer_model_architecture-f.png
[/Sources]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Language counts (Table 1) + model-family counts (Table 2): https://arxiv.org/abs/2504.08001
[/Sources]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Method taxonomy + counts (Table 3): https://arxiv.org/abs/2504.08001
- Probe critique overview (background): https://aclanthology.org/N19-1419/ (structural probe as early catalyst mentioned in survey)
[/Sources]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Survey synthesis of syntax findings (Section 5.1 + tables): https://arxiv.org/abs/2504.08001
- Structural probe catalyst (Hewitt &amp; Manning, 2019): https://aclanthology.org/N19-1419/ (DOI: 10.18653/v1/N19-1419)
[/Sources]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Survey synthesis of semantics findings (Section 5.2 + Table 6): https://arxiv.org/abs/2504.08001
[/Sources]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Survey morphology synthesis (Section 5.3): https://arxiv.org/abs/2504.08001
[/Sources]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Survey discourse section (5.4) + “knowledge neurons” + multilingual discussion (5.5): https://arxiv.org/abs/2504.08001
[/Sources]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Survey discussion on correlation/causation + causal probes + probing pitfalls (Section 6): https://arxiv.org/abs/2504.08001
[/Sources]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Prototype choices derived from survey taxonomy and findings: https://arxiv.org/abs/2504.08001
[/Sources]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FAEE22-CCA9-14E6-5C57-3D2C1A9E80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C9EFC06-CD5B-D4DA-8B98-D9AA889DB21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3E42281-3C35-3147-2A03-5D2DC954E1A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Prototype choices derived from survey taxonomy and findings: https://arxiv.org/abs/2504.08001
[/Sources]
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A73094-0D48-F316-86D5-99C9D9CE988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567245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Prototype evaluation inspired by survey’s emphasis on layerwise representations and probing pitfalls: https://arxiv.org/abs/2504.08001
[/Sources]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Survey conclusions and discussion: https://arxiv.org/abs/2504.08001
[/Sources]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F505CD-039F-FDE8-0A8D-1EA0BDF9CC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789CD62-E8ED-6152-7AF8-596B7C0FE82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F21D5AF-B824-43BE-9188-4842A8111E6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Survey conclusions and discussion: https://arxiv.org/abs/2504.08001
[/Sources]
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003330-E6BA-B350-B81E-FC36D1801DB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377448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BEF01D-E787-FD26-20B6-EDB11A62C5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FDCB81F-C1C7-01E6-0601-4CF2427F9BA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33480E6-BE7A-7676-431B-77B287F125D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Primary paper (survey): https://arxiv.org/abs/2504.08001
[/Sources]
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DF1C8A-07E8-257D-BF95-C83D762959A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32913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F3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A0332DD-E5DF-8B79-2D37-6D997CF3DD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>
            <a:extLst>
              <a:ext uri="{FF2B5EF4-FFF2-40B4-BE49-F238E27FC236}">
                <a16:creationId xmlns:a16="http://schemas.microsoft.com/office/drawing/2014/main" id="{D023A6B3-1B5A-16DC-1510-F1DDF1A9658C}"/>
              </a:ext>
            </a:extLst>
          </p:cNvPr>
          <p:cNvSpPr/>
          <p:nvPr/>
        </p:nvSpPr>
        <p:spPr>
          <a:xfrm>
            <a:off x="502920" y="2743200"/>
            <a:ext cx="11185855" cy="3429000"/>
          </a:xfrm>
          <a:prstGeom prst="rect">
            <a:avLst/>
          </a:prstGeom>
          <a:solidFill>
            <a:srgbClr val="0F2D54">
              <a:alpha val="90000"/>
            </a:srgbClr>
          </a:solidFill>
          <a:ln w="12700">
            <a:solidFill>
              <a:srgbClr val="274B7A"/>
            </a:solidFill>
            <a:prstDash val="solid"/>
          </a:ln>
          <a:effectLst>
            <a:outerShdw blurRad="38100" dist="1905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BBE5B9B-02F8-3050-A2A9-F520BB06B185}"/>
              </a:ext>
            </a:extLst>
          </p:cNvPr>
          <p:cNvSpPr txBox="1"/>
          <p:nvPr/>
        </p:nvSpPr>
        <p:spPr>
          <a:xfrm>
            <a:off x="156373" y="1177750"/>
            <a:ext cx="11878945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800" b="1" i="1" dirty="0">
                <a:solidFill>
                  <a:schemeClr val="bg1"/>
                </a:solidFill>
              </a:rPr>
              <a:t>Linguistic Interpretability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62A6E87-F3AF-5C3C-245B-DAA6E75828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3434" y="0"/>
            <a:ext cx="1044824" cy="104623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2DC5E72-8288-BCD5-3883-68FE61DAF294}"/>
              </a:ext>
            </a:extLst>
          </p:cNvPr>
          <p:cNvSpPr txBox="1"/>
          <p:nvPr/>
        </p:nvSpPr>
        <p:spPr>
          <a:xfrm>
            <a:off x="3276970" y="2935904"/>
            <a:ext cx="563774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bg1"/>
                </a:solidFill>
              </a:rPr>
              <a:t>Natural language processing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86788E9-BEC2-C477-8323-DD99784FE170}"/>
              </a:ext>
            </a:extLst>
          </p:cNvPr>
          <p:cNvSpPr txBox="1"/>
          <p:nvPr/>
        </p:nvSpPr>
        <p:spPr>
          <a:xfrm>
            <a:off x="4818837" y="3795980"/>
            <a:ext cx="2554014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</a:rPr>
              <a:t>Student:   Ali </a:t>
            </a:r>
            <a:r>
              <a:rPr lang="en-US" sz="2000" b="1" dirty="0" err="1">
                <a:solidFill>
                  <a:schemeClr val="bg1"/>
                </a:solidFill>
              </a:rPr>
              <a:t>Dankoob</a:t>
            </a:r>
            <a:endParaRPr lang="en-US" sz="2000" b="1" dirty="0">
              <a:solidFill>
                <a:schemeClr val="bg1"/>
              </a:solidFill>
            </a:endParaRPr>
          </a:p>
          <a:p>
            <a:endParaRPr lang="en-US" sz="2000" b="1" dirty="0">
              <a:solidFill>
                <a:schemeClr val="bg1"/>
              </a:solidFill>
            </a:endParaRPr>
          </a:p>
          <a:p>
            <a:r>
              <a:rPr lang="en-US" sz="2000" b="1" dirty="0">
                <a:solidFill>
                  <a:schemeClr val="bg1"/>
                </a:solidFill>
              </a:rPr>
              <a:t>           40407024</a:t>
            </a:r>
          </a:p>
          <a:p>
            <a:endParaRPr lang="en-US" sz="20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461184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914400"/>
            <a:ext cx="1118585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4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Linguistic Interpretability of Transformer-based PLMs</a:t>
            </a:r>
            <a:endParaRPr lang="en-US" sz="4400" i="1" dirty="0"/>
          </a:p>
        </p:txBody>
      </p:sp>
      <p:sp>
        <p:nvSpPr>
          <p:cNvPr id="3" name="Text 1"/>
          <p:cNvSpPr/>
          <p:nvPr/>
        </p:nvSpPr>
        <p:spPr>
          <a:xfrm>
            <a:off x="502920" y="1920240"/>
            <a:ext cx="1118585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rtl="1"/>
            <a:r>
              <a:rPr lang="en-US" sz="20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Systematic Review of 160 Articles + Roadmap (Prototype)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02920" y="2743200"/>
            <a:ext cx="11185855" cy="3429000"/>
          </a:xfrm>
          <a:prstGeom prst="rect">
            <a:avLst/>
          </a:prstGeom>
          <a:solidFill>
            <a:srgbClr val="0F2D54">
              <a:alpha val="90000"/>
            </a:srgbClr>
          </a:solidFill>
          <a:ln w="12700">
            <a:solidFill>
              <a:srgbClr val="274B7A"/>
            </a:solidFill>
            <a:prstDash val="solid"/>
          </a:ln>
          <a:effectLst>
            <a:outerShdw blurRad="38100" dist="1905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14400" y="3337560"/>
            <a:ext cx="10362895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 algn="l"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and Motivation: Why is Linguistic Interpretability Important?</a:t>
            </a:r>
          </a:p>
          <a:p>
            <a:pPr marL="203200" indent="-203200" algn="l"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Systematic Review Method and Scope of the Article (PRISMA-like)
Overview of Transformer and the Concept of </a:t>
            </a:r>
            <a:r>
              <a:rPr lang="en-US" sz="16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layerwise</a:t>
            </a: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interpretability
Key results at 4 levels of Syntax/Semantics/Morphology/Discourse:
Methods: Probing, Analysis, Attention, Geometry Analysis, Embedding, etc.
Limitations + Prototype Idea Practical for Lesson Project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B1F3B"/>
          </a:solidFill>
          <a:ln w="12700">
            <a:solidFill>
              <a:srgbClr val="0B1F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28016"/>
            <a:ext cx="111858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/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1)Problem and motivation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02920" y="6355080"/>
            <a:ext cx="1118585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644652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/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3 / 19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633193" y="635508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 rtl="1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Survey + Prototype-ready deck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" y="777240"/>
            <a:ext cx="5577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/>
            <a:r>
              <a:rPr lang="en-US" sz="2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Interpretability at all?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02920" y="1234440"/>
            <a:ext cx="5623560" cy="23479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 algn="l">
              <a:buSzPct val="100000"/>
              <a:buChar char="•"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 models perform great, but there's a "black box" inside.
Without an understanding of the internal mechanism: it becomes difficult to detect errors, biases, and fragile behaviors.
For practical NLP: Knowing which layer/head/neuron has what knowledge debugging and targeted improvement.
For low-resource languages: If we understand where linguistic knowledge is encoded, it becomes easier to transfer/inject knowledge.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109231" y="1033272"/>
            <a:ext cx="2011680" cy="384048"/>
          </a:xfrm>
          <a:prstGeom prst="round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7154951" y="1095073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 rtl="1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Black-box risk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9136113" y="1038474"/>
            <a:ext cx="2011680" cy="384048"/>
          </a:xfrm>
          <a:prstGeom prst="round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36113" y="1078992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 rtl="1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Bias &amp; safety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857771" y="1426464"/>
            <a:ext cx="4526280" cy="192024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  <a:effectLst>
            <a:outerShdw blurRad="38100" dist="1905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903491" y="1956824"/>
            <a:ext cx="4526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 rtl="1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PLM</a:t>
            </a:r>
            <a:endParaRPr lang="en-US" sz="4200" dirty="0"/>
          </a:p>
        </p:txBody>
      </p:sp>
      <p:sp>
        <p:nvSpPr>
          <p:cNvPr id="15" name="Text 13"/>
          <p:cNvSpPr/>
          <p:nvPr/>
        </p:nvSpPr>
        <p:spPr>
          <a:xfrm>
            <a:off x="6872973" y="2534920"/>
            <a:ext cx="4526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rtl="1"/>
            <a:r>
              <a:rPr lang="en-US" sz="16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did he learn where and how?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116071" y="2157984"/>
            <a:ext cx="731520" cy="457200"/>
          </a:xfrm>
          <a:prstGeom prst="rightArrow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1404411" y="2152404"/>
            <a:ext cx="731520" cy="457200"/>
          </a:xfrm>
          <a:prstGeom prst="leftArrow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02920" y="3703320"/>
            <a:ext cx="11185855" cy="2423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77240" y="3858768"/>
            <a:ext cx="106372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/>
            <a:r>
              <a:rPr lang="en-US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is "linguistics" within the model important?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746836" y="4455160"/>
            <a:ext cx="10637215" cy="10591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90500" indent="-190500" algn="l">
              <a:buSzPct val="100000"/>
              <a:buChar char="•"/>
            </a:pPr>
            <a:r>
              <a:rPr lang="en-US" sz="15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model really learns linguistic structures, we expect better generalization and fewer errors.</a:t>
            </a:r>
          </a:p>
          <a:p>
            <a:pPr marL="190500" indent="-190500" algn="l">
              <a:buSzPct val="100000"/>
              <a:buChar char="•"/>
            </a:pPr>
            <a:endParaRPr lang="en-US" sz="1500" dirty="0">
              <a:solidFill>
                <a:srgbClr val="111827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190500" indent="-190500" algn="l">
              <a:buSzPct val="100000"/>
              <a:buChar char="•"/>
            </a:pPr>
            <a:r>
              <a:rPr lang="en-US" sz="15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it only learns statistical correlation, it may remain dependent on frequency. </a:t>
            </a:r>
          </a:p>
          <a:p>
            <a:pPr marL="190500" indent="-190500" algn="l">
              <a:buSzPct val="100000"/>
              <a:buChar char="•"/>
            </a:pPr>
            <a:endParaRPr lang="en-US" sz="1500" dirty="0">
              <a:solidFill>
                <a:srgbClr val="111827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190500" indent="-190500" algn="l">
              <a:buSzPct val="100000"/>
              <a:buChar char="•"/>
            </a:pPr>
            <a:r>
              <a:rPr lang="en-US" sz="15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Objective: To summarize the evidence from 160 research papers on Syntax/Morphology/Semantics/Discourse in PLMs.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B1F3B"/>
          </a:solidFill>
          <a:ln w="12700">
            <a:solidFill>
              <a:srgbClr val="0B1F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28016"/>
            <a:ext cx="111858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/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2) Definitions and Scope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02920" y="6355080"/>
            <a:ext cx="1118585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644652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/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4 / 19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671255" y="644652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 rtl="1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Survey + Prototype-ready deck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63282" y="794413"/>
            <a:ext cx="2065127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rtl="1"/>
            <a:r>
              <a:rPr lang="en-US" sz="2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Keywords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192369" y="1234440"/>
            <a:ext cx="3730752" cy="201168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777240" y="1368961"/>
            <a:ext cx="1246112" cy="33847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/>
            <a:r>
              <a:rPr lang="en-US" sz="15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Explainability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85389" y="1722178"/>
            <a:ext cx="3273552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/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why this output is usually close to the output/behavior? It is often not model-agnostic and focuses on the importance of inputs.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230470" y="1197174"/>
            <a:ext cx="3730752" cy="2011680"/>
          </a:xfrm>
          <a:prstGeom prst="roundRect">
            <a:avLst/>
          </a:prstGeom>
          <a:solidFill>
            <a:srgbClr val="ECFEFF"/>
          </a:solidFill>
          <a:ln w="12700">
            <a:solidFill>
              <a:srgbClr val="A5F3FC"/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559923" y="1389888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5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Interpretability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578211" y="1737360"/>
            <a:ext cx="3273552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/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Trying to understand the internal mechanisms (layers, attention heads, neurons, embeddings) and how they reach the output.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268571" y="1234440"/>
            <a:ext cx="3730752" cy="2011680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595360" y="1389888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Linguistic interpretability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595360" y="1737360"/>
            <a:ext cx="3273552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/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on whether PLMs represent/code linguistic phenomena (syntax/morphology/semantics/discourse) similar to humans.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02920" y="3566160"/>
            <a:ext cx="11185855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" y="3730752"/>
            <a:ext cx="106372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/>
            <a:r>
              <a:rPr lang="en-US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exactly does this survey cover?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777240" y="4096512"/>
            <a:ext cx="10637215" cy="20299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90500" indent="-190500" algn="l">
              <a:buSzPct val="100000"/>
              <a:buChar char="•"/>
            </a:pPr>
            <a:r>
              <a:rPr lang="en-US" sz="15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160 papers (2018 to Oct 2024), focusing on Transformer-based PLMs and internal representations.</a:t>
            </a:r>
          </a:p>
          <a:p>
            <a:pPr marL="190500" indent="-190500" algn="l">
              <a:buSzPct val="100000"/>
              <a:buChar char="•"/>
            </a:pPr>
            <a:endParaRPr lang="en-US" sz="1500" dirty="0">
              <a:solidFill>
                <a:srgbClr val="111827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190500" indent="-190500" algn="l">
              <a:buSzPct val="100000"/>
              <a:buChar char="•"/>
            </a:pPr>
            <a:r>
              <a:rPr lang="en-US" sz="15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models (pre-trained) without fine-tune for specific tasks; only black-box studies have been omitted</a:t>
            </a:r>
          </a:p>
          <a:p>
            <a:pPr marL="190500" indent="-190500" algn="l">
              <a:buSzPct val="100000"/>
              <a:buChar char="•"/>
            </a:pPr>
            <a:endParaRPr lang="en-US" sz="1500" dirty="0">
              <a:solidFill>
                <a:srgbClr val="111827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190500" indent="-190500" algn="l">
              <a:buSzPct val="100000"/>
              <a:buChar char="•"/>
            </a:pPr>
            <a:r>
              <a:rPr lang="en-US" sz="15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four linguistic levels are Syntax, Semantics, Morphology, and Discourse</a:t>
            </a:r>
          </a:p>
          <a:p>
            <a:pPr marL="190500" indent="-190500" algn="l">
              <a:buSzPct val="100000"/>
              <a:buChar char="•"/>
            </a:pPr>
            <a:endParaRPr lang="en-US" sz="1500" dirty="0">
              <a:solidFill>
                <a:srgbClr val="111827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190500" indent="-190500" algn="l">
              <a:buSzPct val="100000"/>
              <a:buChar char="•"/>
            </a:pPr>
            <a:r>
              <a:rPr lang="en-US" sz="15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Methods: Probing Attention/Neurons Analysis, Embedding Geometry Analysis, Ablation/Pruning, etc.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B1F3B"/>
          </a:solidFill>
          <a:ln w="12700">
            <a:solidFill>
              <a:srgbClr val="0B1F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28016"/>
            <a:ext cx="111858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/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3) Systematic review method (PRISMA-like)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02920" y="6355080"/>
            <a:ext cx="1118585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644652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/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5 / 19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671255" y="644652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 rtl="1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Survey + Prototype-ready deck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" y="777240"/>
            <a:ext cx="111858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/>
            <a:r>
              <a:rPr lang="en-US" sz="2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Selection of Pipeline Articles (Key Numbers)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502920" y="1325880"/>
            <a:ext cx="2606040" cy="96012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E5E7EB"/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40080" y="1435608"/>
            <a:ext cx="2331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 rtl="1">
              <a:buNone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Scholar search</a:t>
            </a:r>
            <a:endParaRPr lang="en-US" sz="1400" dirty="0"/>
          </a:p>
          <a:p>
            <a:pPr marL="0" indent="0" algn="ctr" rtl="1">
              <a:buNone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5,580 results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163824" y="1600200"/>
            <a:ext cx="164592" cy="457200"/>
          </a:xfrm>
          <a:prstGeom prst="rightArrow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337560" y="1325880"/>
            <a:ext cx="2606040" cy="960120"/>
          </a:xfrm>
          <a:prstGeom prst="roundRect">
            <a:avLst/>
          </a:prstGeom>
          <a:solidFill>
            <a:srgbClr val="ECFEFF"/>
          </a:solidFill>
          <a:ln w="12700">
            <a:solidFill>
              <a:srgbClr val="E5E7EB"/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474720" y="1435608"/>
            <a:ext cx="2331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 rtl="1">
              <a:buNone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filters &amp; sampling</a:t>
            </a:r>
            <a:endParaRPr lang="en-US" sz="1400" dirty="0"/>
          </a:p>
          <a:p>
            <a:pPr marL="0" indent="0" algn="ctr" rtl="1">
              <a:buNone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876 candidate papers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998464" y="1600200"/>
            <a:ext cx="164592" cy="457200"/>
          </a:xfrm>
          <a:prstGeom prst="rightArrow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172200" y="1325880"/>
            <a:ext cx="2606040" cy="960120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E5E7EB"/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309360" y="1435608"/>
            <a:ext cx="2331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 rtl="1">
              <a:buNone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Title/abstract screening</a:t>
            </a:r>
            <a:endParaRPr lang="en-US" sz="1400" dirty="0"/>
          </a:p>
          <a:p>
            <a:pPr marL="0" indent="0" algn="ctr" rtl="1">
              <a:buNone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277 papers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833104" y="1600200"/>
            <a:ext cx="164592" cy="457200"/>
          </a:xfrm>
          <a:prstGeom prst="rightArrow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006840" y="1325880"/>
            <a:ext cx="2606040" cy="960120"/>
          </a:xfrm>
          <a:prstGeom prst="roundRect">
            <a:avLst/>
          </a:prstGeom>
          <a:solidFill>
            <a:srgbClr val="FFFBEB"/>
          </a:solidFill>
          <a:ln w="12700">
            <a:solidFill>
              <a:srgbClr val="E5E7EB"/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0" y="1435608"/>
            <a:ext cx="2331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 rtl="1">
              <a:buNone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analysis + exclusions</a:t>
            </a:r>
            <a:endParaRPr lang="en-US" sz="1400" dirty="0"/>
          </a:p>
          <a:p>
            <a:pPr marL="0" indent="0" algn="ctr" rtl="1">
              <a:buNone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160 included studies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70128" y="2560320"/>
            <a:ext cx="11185855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777240" y="2724912"/>
            <a:ext cx="5852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/>
            <a:r>
              <a:rPr lang="en-US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Delete/Important Details in Selection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777240" y="3090672"/>
            <a:ext cx="5715000" cy="275803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90500" indent="-190500" algn="l">
              <a:buSzPct val="100000"/>
              <a:buChar char="•"/>
            </a:pPr>
            <a:r>
              <a:rPr lang="en-US" sz="15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Compound keywords : probe/interpret/explain+ transformer/BERT +syntax/semantic/morphology...</a:t>
            </a:r>
          </a:p>
          <a:p>
            <a:pPr marL="190500" indent="-190500" algn="l">
              <a:buSzPct val="100000"/>
              <a:buChar char="•"/>
            </a:pPr>
            <a:endParaRPr lang="en-US" sz="1500" dirty="0">
              <a:solidFill>
                <a:srgbClr val="111827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190500" indent="-190500" algn="l">
              <a:buSzPct val="100000"/>
              <a:buChar char="•"/>
            </a:pPr>
            <a:r>
              <a:rPr lang="en-US" sz="15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Filter: Period 2018–Oct 2024, focusing on English articles and mainly</a:t>
            </a:r>
          </a:p>
          <a:p>
            <a:pPr algn="l">
              <a:buSzPct val="100000"/>
            </a:pPr>
            <a:r>
              <a:rPr lang="en-US" sz="15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peer-reviewed articles</a:t>
            </a:r>
          </a:p>
          <a:p>
            <a:pPr marL="190500" indent="-190500" algn="l">
              <a:buSzPct val="100000"/>
              <a:buChar char="•"/>
            </a:pPr>
            <a:endParaRPr lang="en-US" sz="1500" dirty="0">
              <a:solidFill>
                <a:srgbClr val="111827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190500" indent="-190500" algn="l">
              <a:buSzPct val="100000"/>
              <a:buChar char="•"/>
            </a:pPr>
            <a:r>
              <a:rPr lang="en-US" sz="15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Eliminate black-box analyses only for the final output; focus on </a:t>
            </a:r>
            <a:r>
              <a:rPr lang="en-US" sz="1500" dirty="0" err="1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layerwise</a:t>
            </a:r>
            <a:r>
              <a:rPr lang="en-US" sz="15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/internal.</a:t>
            </a:r>
          </a:p>
          <a:p>
            <a:pPr marL="190500" indent="-190500" algn="l">
              <a:buSzPct val="100000"/>
              <a:buChar char="•"/>
            </a:pPr>
            <a:endParaRPr lang="en-US" sz="1500" dirty="0">
              <a:solidFill>
                <a:srgbClr val="111827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190500" indent="-190500" algn="l">
              <a:buSzPct val="100000"/>
              <a:buChar char="•"/>
            </a:pPr>
            <a:r>
              <a:rPr lang="en-US" sz="15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stages of human annotation: (1) title/abstract, (2) accurate reading and dimensional labeling.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903720" y="2724912"/>
            <a:ext cx="4785055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/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Labeling Dimensions: Linguistic Level, Phenomena, Languages, Models, Methodology, Attitude toward PLM's Linguistic Ability, and (interpretability)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6903720" y="4297680"/>
            <a:ext cx="4785055" cy="1783080"/>
          </a:xfrm>
          <a:prstGeom prst="roundRect">
            <a:avLst/>
          </a:prstGeom>
          <a:solidFill>
            <a:srgbClr val="0B1F3B">
              <a:alpha val="92000"/>
            </a:srgbClr>
          </a:solidFill>
          <a:ln w="12700">
            <a:solidFill>
              <a:srgbClr val="0B1F3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086600" y="4434840"/>
            <a:ext cx="44192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 for your project?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7086600" y="4736592"/>
            <a:ext cx="4419295" cy="9423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65100" indent="-165100" algn="l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Survey → "What can be put into practice?“</a:t>
            </a:r>
          </a:p>
          <a:p>
            <a:pPr marL="165100" indent="-165100" algn="l">
              <a:buSzPct val="100000"/>
              <a:buChar char="•"/>
            </a:pPr>
            <a:endParaRPr lang="en-US" sz="1300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165100" indent="-165100" algn="l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prototype must demonstrate an intrinsic interpretability technique (e.g., probing).</a:t>
            </a:r>
          </a:p>
          <a:p>
            <a:pPr marL="165100" indent="-165100" algn="l">
              <a:buSzPct val="100000"/>
              <a:buChar char="•"/>
            </a:pPr>
            <a:endParaRPr lang="en-US" sz="1300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165100" indent="-165100" algn="l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Chart + Analysis + Reproducible Code.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B1F3B"/>
          </a:solidFill>
          <a:ln w="12700">
            <a:solidFill>
              <a:srgbClr val="0B1F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28016"/>
            <a:ext cx="111858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4) Transformer for Interpretability (Technical Summary)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02920" y="6355080"/>
            <a:ext cx="1118585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644652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6 / 19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671255" y="644652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Survey + Prototype-ready deck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" y="777240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components studied in the studies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02920" y="1234440"/>
            <a:ext cx="598932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90500" indent="-190500">
              <a:buSzPct val="100000"/>
              <a:buChar char="•"/>
            </a:pPr>
            <a:r>
              <a:rPr lang="en-US" sz="15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Tokenization (BPE/</a:t>
            </a:r>
            <a:r>
              <a:rPr lang="en-US" sz="1500" dirty="0" err="1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WordPiece</a:t>
            </a:r>
            <a:r>
              <a:rPr lang="en-US" sz="15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→ can make morphology difficult to study.</a:t>
            </a:r>
          </a:p>
          <a:p>
            <a:pPr marL="190500" indent="-190500">
              <a:buSzPct val="100000"/>
              <a:buChar char="•"/>
            </a:pPr>
            <a:endParaRPr lang="en-US" sz="1500" dirty="0">
              <a:solidFill>
                <a:srgbClr val="111827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190500" indent="-190500">
              <a:buSzPct val="100000"/>
              <a:buChar char="•"/>
            </a:pPr>
            <a:r>
              <a:rPr lang="en-US" sz="15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 layer + L Transformer layers → contextual embeddings in each layer.</a:t>
            </a:r>
          </a:p>
          <a:p>
            <a:pPr marL="190500" indent="-190500">
              <a:buSzPct val="100000"/>
              <a:buChar char="•"/>
            </a:pPr>
            <a:endParaRPr lang="en-US" sz="1500" dirty="0">
              <a:solidFill>
                <a:srgbClr val="111827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190500" indent="-190500">
              <a:buSzPct val="100000"/>
              <a:buChar char="•"/>
            </a:pPr>
            <a:r>
              <a:rPr lang="en-US" sz="15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Self-attention heads → patterns of dependence, coreference, constituency...</a:t>
            </a:r>
          </a:p>
          <a:p>
            <a:pPr marL="190500" indent="-190500">
              <a:buSzPct val="100000"/>
              <a:buChar char="•"/>
            </a:pPr>
            <a:endParaRPr lang="en-US" sz="1500" dirty="0">
              <a:solidFill>
                <a:srgbClr val="111827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190500" indent="-190500">
              <a:buSzPct val="100000"/>
              <a:buChar char="•"/>
            </a:pPr>
            <a:r>
              <a:rPr lang="en-US" sz="15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Feed-forward (FFN) + residual/</a:t>
            </a:r>
            <a:r>
              <a:rPr lang="en-US" sz="1500" dirty="0" err="1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LayerNorm</a:t>
            </a:r>
            <a:r>
              <a:rPr lang="en-US" sz="15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"store/convert" knowledge in layers.</a:t>
            </a:r>
          </a:p>
          <a:p>
            <a:pPr marL="190500" indent="-190500">
              <a:buSzPct val="100000"/>
              <a:buChar char="•"/>
            </a:pPr>
            <a:endParaRPr lang="en-US" sz="1500" dirty="0">
              <a:solidFill>
                <a:srgbClr val="111827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190500" indent="-190500">
              <a:buSzPct val="100000"/>
              <a:buChar char="•"/>
            </a:pPr>
            <a:r>
              <a:rPr lang="en-US" sz="1500" dirty="0" err="1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Layerwise</a:t>
            </a:r>
            <a:r>
              <a:rPr lang="en-US" sz="15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view: lower (1–3), middle (4–7), upper (8–12) for BERT-base.</a:t>
            </a:r>
          </a:p>
          <a:p>
            <a:pPr marL="190500" indent="-190500">
              <a:buSzPct val="100000"/>
              <a:buChar char="•"/>
            </a:pPr>
            <a:endParaRPr lang="en-US" sz="1500" dirty="0">
              <a:solidFill>
                <a:srgbClr val="111827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190500" indent="-190500">
              <a:buSzPct val="100000"/>
              <a:buChar char="•"/>
            </a:pPr>
            <a:r>
              <a:rPr lang="en-US" sz="15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Encoder vs Decoder vs Encoder-Decoder → Difference in Attention (Masking) and Application.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583680" y="1005840"/>
            <a:ext cx="5102352" cy="5074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10" name="Image 0" descr="/mnt/data/transformer_architectu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25765" y="1097280"/>
            <a:ext cx="4618182" cy="45720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6629400" y="5742432"/>
            <a:ext cx="4983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 model architecture (encoder/decoder)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B1F3B"/>
          </a:solidFill>
          <a:ln w="12700">
            <a:solidFill>
              <a:srgbClr val="0B1F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28016"/>
            <a:ext cx="111858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5) Survey Data: Languages and Architectures Surveyed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02920" y="6355080"/>
            <a:ext cx="1118585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644652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7 / 19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671255" y="644652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Survey + Prototype-ready deck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" y="777240"/>
            <a:ext cx="111858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000" b="1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focus: Still English-centric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502920" y="1143000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145/160 studies include English, but other languages have been gradually added (e.g., German, French, Russian, Persian...).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02920" y="1600200"/>
            <a:ext cx="576072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17373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languages in analyzed PLMs (count of studies)</a:t>
            </a:r>
            <a:endParaRPr lang="en-US" sz="1200" dirty="0"/>
          </a:p>
        </p:txBody>
      </p:sp>
      <p:graphicFrame>
        <p:nvGraphicFramePr>
          <p:cNvPr id="11" name="Chart 0"/>
          <p:cNvGraphicFramePr/>
          <p:nvPr/>
        </p:nvGraphicFramePr>
        <p:xfrm>
          <a:off x="731520" y="1993392"/>
          <a:ext cx="5486400" cy="3520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2" name="Shape 9"/>
          <p:cNvSpPr/>
          <p:nvPr/>
        </p:nvSpPr>
        <p:spPr>
          <a:xfrm>
            <a:off x="6492240" y="1600200"/>
            <a:ext cx="5196535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675120" y="1737360"/>
            <a:ext cx="483077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studied model families (count of studies)</a:t>
            </a:r>
            <a:endParaRPr lang="en-US" sz="1200" dirty="0"/>
          </a:p>
        </p:txBody>
      </p:sp>
      <p:graphicFrame>
        <p:nvGraphicFramePr>
          <p:cNvPr id="14" name="Chart 1"/>
          <p:cNvGraphicFramePr/>
          <p:nvPr/>
        </p:nvGraphicFramePr>
        <p:xfrm>
          <a:off x="6720840" y="1993392"/>
          <a:ext cx="4739335" cy="3520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5" name="Shape 11"/>
          <p:cNvSpPr/>
          <p:nvPr/>
        </p:nvSpPr>
        <p:spPr>
          <a:xfrm>
            <a:off x="502920" y="5715000"/>
            <a:ext cx="11185855" cy="438912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777240" y="5806440"/>
            <a:ext cx="106372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Insight: The heavy focus on BERT/</a:t>
            </a:r>
            <a:r>
              <a:rPr lang="en-US" sz="14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RoBERTa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is due to its "parameter availability" and lower cost of internal analysis.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B1F3B"/>
          </a:solidFill>
          <a:ln w="12700">
            <a:solidFill>
              <a:srgbClr val="0B1F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28016"/>
            <a:ext cx="111858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6) Common Methods of Discovering Language Knowledge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02920" y="6355080"/>
            <a:ext cx="1118585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644652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8 / 19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671255" y="644652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Survey + Prototype-ready deck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" y="777240"/>
            <a:ext cx="111858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Family Method (Taxonomy Article)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502920" y="1188720"/>
            <a:ext cx="5989320" cy="4892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1520" y="1371600"/>
            <a:ext cx="5532120" cy="105156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" y="1371600"/>
            <a:ext cx="137160" cy="105156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0120" y="1508760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attribution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60120" y="1847088"/>
            <a:ext cx="5212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importance of each token/span relative to the output (gradient, perturbation, LIME...).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31520" y="2514600"/>
            <a:ext cx="5532120" cy="105156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31520" y="2514600"/>
            <a:ext cx="137160" cy="105156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60120" y="2651760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Example-based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960120" y="2990088"/>
            <a:ext cx="5212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Designed/Adversarial/Counterfactual sentences and view the output change/display.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31520" y="3657600"/>
            <a:ext cx="5532120" cy="105156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31520" y="3657600"/>
            <a:ext cx="137160" cy="105156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60120" y="3794760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elements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960120" y="4133088"/>
            <a:ext cx="5212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00" dirty="0" err="1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Analysisattention</a:t>
            </a: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heads/neurons/FFN/embeddings + pruning/ablation/visualization.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31520" y="4800600"/>
            <a:ext cx="5532120" cy="105156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31520" y="4800600"/>
            <a:ext cx="137160" cy="105156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60120" y="4937760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Probing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960120" y="5276088"/>
            <a:ext cx="5212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Style classifier tutorial on intermediate representations to predict language labels (POS, dep, SRL...).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629400" y="1188720"/>
            <a:ext cx="5059375" cy="4892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812280" y="1325880"/>
            <a:ext cx="46936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often each method appears (160 papers)</a:t>
            </a:r>
            <a:endParaRPr lang="en-US" sz="1200" dirty="0"/>
          </a:p>
        </p:txBody>
      </p:sp>
      <p:graphicFrame>
        <p:nvGraphicFramePr>
          <p:cNvPr id="27" name="Chart 0"/>
          <p:cNvGraphicFramePr/>
          <p:nvPr/>
        </p:nvGraphicFramePr>
        <p:xfrm>
          <a:off x="6812280" y="1691640"/>
          <a:ext cx="4602175" cy="2926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8" name="Text 25"/>
          <p:cNvSpPr/>
          <p:nvPr/>
        </p:nvSpPr>
        <p:spPr>
          <a:xfrm>
            <a:off x="6812280" y="4709160"/>
            <a:ext cx="460217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Withdrawal:</a:t>
            </a:r>
            <a:endParaRPr lang="en-US" sz="1400" dirty="0"/>
          </a:p>
        </p:txBody>
      </p:sp>
      <p:sp>
        <p:nvSpPr>
          <p:cNvPr id="29" name="Text 26"/>
          <p:cNvSpPr/>
          <p:nvPr/>
        </p:nvSpPr>
        <p:spPr>
          <a:xfrm>
            <a:off x="6812280" y="4983480"/>
            <a:ext cx="4602175" cy="9423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65100" indent="-165100"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Probing is the dominant method (117 studies).
A combination of several methods usually yields richer results.
Probing risk: "Memorizing the task" rather than recognizing the knowledge of the model → requires control/causal probes.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B1F3B"/>
          </a:solidFill>
          <a:ln w="12700">
            <a:solidFill>
              <a:srgbClr val="0B1F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28016"/>
            <a:ext cx="111858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7) Findings — Syntax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02920" y="6355080"/>
            <a:ext cx="1118585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644652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9 / 19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671255" y="644652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Survey + Prototype-ready deck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" y="777240"/>
            <a:ext cx="111858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syntax in PLMs? Probably yes — but with a caveat.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502920" y="1143000"/>
            <a:ext cx="5486400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2540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02920" y="1143000"/>
            <a:ext cx="137160" cy="233172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1307592"/>
            <a:ext cx="5074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5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1) Positive evidence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31520" y="1645920"/>
            <a:ext cx="5074920" cy="9423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65100" indent="-165100"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 dependency-like structure of embeddings (multiple studies).</a:t>
            </a:r>
          </a:p>
          <a:p>
            <a:pPr marL="165100" indent="-165100">
              <a:buSzPct val="100000"/>
              <a:buChar char="•"/>
            </a:pPr>
            <a:endParaRPr lang="en-US" sz="1300" dirty="0">
              <a:solidFill>
                <a:srgbClr val="111827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165100" indent="-165100">
              <a:buSzPct val="100000"/>
              <a:buChar char="•"/>
            </a:pPr>
            <a:endParaRPr lang="en-US" sz="1300" dirty="0">
              <a:solidFill>
                <a:srgbClr val="111827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165100" indent="-165100"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report that syntax is more powerful than semantics code.</a:t>
            </a:r>
          </a:p>
          <a:p>
            <a:pPr marL="165100" indent="-165100">
              <a:buSzPct val="100000"/>
              <a:buChar char="•"/>
            </a:pPr>
            <a:endParaRPr lang="en-US" sz="1300" dirty="0">
              <a:solidFill>
                <a:srgbClr val="111827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165100" indent="-165100">
              <a:buSzPct val="100000"/>
              <a:buChar char="•"/>
            </a:pPr>
            <a:endParaRPr lang="en-US" sz="1300" dirty="0">
              <a:solidFill>
                <a:srgbClr val="111827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165100" indent="-165100"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</a:t>
            </a:r>
            <a:r>
              <a:rPr lang="en-US" sz="1300" dirty="0" err="1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mBERT</a:t>
            </a: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there is evidence of syntactic transfer between languages.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263640" y="1143000"/>
            <a:ext cx="5486400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2540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263640" y="1143000"/>
            <a:ext cx="137160" cy="233172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92240" y="1307592"/>
            <a:ext cx="5074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5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2) Negative/ambiguous evidence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492240" y="1645920"/>
            <a:ext cx="5074920" cy="9423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65100" indent="-165100"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Dependence on word order in some settings.</a:t>
            </a:r>
          </a:p>
          <a:p>
            <a:pPr marL="165100" indent="-165100">
              <a:buSzPct val="100000"/>
              <a:buChar char="•"/>
            </a:pPr>
            <a:endParaRPr lang="en-US" sz="1300" dirty="0">
              <a:solidFill>
                <a:srgbClr val="111827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165100" indent="-165100">
              <a:buSzPct val="100000"/>
              <a:buChar char="•"/>
            </a:pPr>
            <a:endParaRPr lang="en-US" sz="1300" dirty="0">
              <a:solidFill>
                <a:srgbClr val="111827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165100" indent="-165100"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Weakness in Specific Phenomena: Agreement in Low-Frequency Forms, Reflexive Anaphora...</a:t>
            </a:r>
          </a:p>
          <a:p>
            <a:pPr marL="165100" indent="-165100">
              <a:buSzPct val="100000"/>
              <a:buChar char="•"/>
            </a:pPr>
            <a:endParaRPr lang="en-US" sz="1300" dirty="0">
              <a:solidFill>
                <a:srgbClr val="111827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165100" indent="-165100">
              <a:buSzPct val="100000"/>
              <a:buChar char="•"/>
            </a:pPr>
            <a:endParaRPr lang="en-US" sz="1300" dirty="0">
              <a:solidFill>
                <a:srgbClr val="111827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165100" indent="-165100"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syntax/semantics separation is not always clear (inconsistent results).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02920" y="3794760"/>
            <a:ext cx="5486400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2540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02920" y="3794760"/>
            <a:ext cx="137160" cy="233172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3959352"/>
            <a:ext cx="5074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5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3) </a:t>
            </a:r>
            <a:r>
              <a:rPr lang="en-US" sz="1500" b="1" dirty="0" err="1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Layerwise</a:t>
            </a:r>
            <a:r>
              <a:rPr lang="en-US" sz="15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&amp; elements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731520" y="4297680"/>
            <a:ext cx="5074920" cy="9423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65100" indent="-165100"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BERT-base: Often important "middle layers" are reported (but not complete consensus).</a:t>
            </a:r>
          </a:p>
          <a:p>
            <a:pPr marL="165100" indent="-165100">
              <a:buSzPct val="100000"/>
              <a:buChar char="•"/>
            </a:pPr>
            <a:endParaRPr lang="en-US" sz="1300" dirty="0">
              <a:solidFill>
                <a:srgbClr val="111827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165100" indent="-165100"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tasks: the simultaneous role of </a:t>
            </a:r>
            <a:r>
              <a:rPr lang="en-US" sz="1300" dirty="0" err="1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lower+middle</a:t>
            </a: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or distribution across the entire model.</a:t>
            </a:r>
          </a:p>
          <a:p>
            <a:pPr marL="165100" indent="-165100">
              <a:buSzPct val="100000"/>
              <a:buChar char="•"/>
            </a:pPr>
            <a:endParaRPr lang="en-US" sz="1300" dirty="0">
              <a:solidFill>
                <a:srgbClr val="111827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165100" indent="-165100"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Attention heads are sometimes specialized in dependency relationships.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263640" y="3794760"/>
            <a:ext cx="5486400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2540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263640" y="3794760"/>
            <a:ext cx="137160" cy="23317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92240" y="3959352"/>
            <a:ext cx="5074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5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4) Embedding geometry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492240" y="4297680"/>
            <a:ext cx="5074920" cy="9423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65100" indent="-165100"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linear spaces are reported below for syntax and semantics.</a:t>
            </a:r>
          </a:p>
          <a:p>
            <a:pPr marL="165100" indent="-165100">
              <a:buSzPct val="100000"/>
              <a:buChar char="•"/>
            </a:pPr>
            <a:endParaRPr lang="en-US" sz="1300" dirty="0">
              <a:solidFill>
                <a:srgbClr val="111827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165100" indent="-165100"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Low-dimensional subspaces are reported for some syntactic variables (e.g., POS/agreement).</a:t>
            </a:r>
          </a:p>
          <a:p>
            <a:pPr marL="165100" indent="-165100">
              <a:buSzPct val="100000"/>
              <a:buChar char="•"/>
            </a:pPr>
            <a:endParaRPr lang="en-US" sz="1300" dirty="0">
              <a:solidFill>
                <a:srgbClr val="111827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165100" indent="-165100"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However, overlap between linguistic concepts has also been observed.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B1F3B"/>
          </a:solidFill>
          <a:ln w="12700">
            <a:solidFill>
              <a:srgbClr val="0B1F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28016"/>
            <a:ext cx="111858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8) Findings — (</a:t>
            </a:r>
            <a:r>
              <a:rPr lang="en-US" sz="20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Lexico</a:t>
            </a: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)Semantics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02920" y="6355080"/>
            <a:ext cx="1118585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644652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10 / 19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671255" y="644652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Survey + Prototype-ready deck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" y="777240"/>
            <a:ext cx="111858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9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result: Semantics are largely present, but heterogeneous and sometimes weaker than syntax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502920" y="1234440"/>
            <a:ext cx="3576218" cy="4343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2540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02920" y="1234440"/>
            <a:ext cx="3576218" cy="50292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1344168"/>
            <a:ext cx="311901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Reported capabilities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31520" y="1920240"/>
            <a:ext cx="3119018" cy="883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buSzPct val="100000"/>
              <a:buChar char="•"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Polysemy and sense-level differences (monolingual is better than </a:t>
            </a:r>
            <a:r>
              <a:rPr lang="en-US" sz="1200" dirty="0" err="1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mBERT</a:t>
            </a: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 some studies).</a:t>
            </a:r>
          </a:p>
          <a:p>
            <a:pPr marL="152400" indent="-152400">
              <a:buSzPct val="100000"/>
              <a:buChar char="•"/>
            </a:pPr>
            <a:endParaRPr lang="en-US" sz="1200" dirty="0">
              <a:solidFill>
                <a:srgbClr val="111827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152400" indent="-152400">
              <a:buSzPct val="100000"/>
              <a:buChar char="•"/>
            </a:pPr>
            <a:endParaRPr lang="en-US" sz="1200" dirty="0">
              <a:solidFill>
                <a:srgbClr val="111827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152400" indent="-152400">
              <a:buSzPct val="100000"/>
              <a:buChar char="•"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of scale/number/date and some semantic roles.</a:t>
            </a:r>
          </a:p>
          <a:p>
            <a:pPr marL="152400" indent="-152400">
              <a:buSzPct val="100000"/>
              <a:buChar char="•"/>
            </a:pPr>
            <a:endParaRPr lang="en-US" sz="1200" dirty="0">
              <a:solidFill>
                <a:srgbClr val="111827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152400" indent="-152400">
              <a:buSzPct val="100000"/>
              <a:buChar char="•"/>
            </a:pPr>
            <a:endParaRPr lang="en-US" sz="1200" dirty="0">
              <a:solidFill>
                <a:srgbClr val="111827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152400" indent="-152400">
              <a:buSzPct val="100000"/>
              <a:buChar char="•"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Recognize the meaning of idioms (literal vs figurative) in some settings.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307738" y="1234440"/>
            <a:ext cx="3576218" cy="4343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2540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307738" y="1234440"/>
            <a:ext cx="3576218" cy="50292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36338" y="1344168"/>
            <a:ext cx="311901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and Cons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536338" y="1920240"/>
            <a:ext cx="3119018" cy="883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buSzPct val="100000"/>
              <a:buChar char="•"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Negation: Mixed results; unstable in some models/sizes.</a:t>
            </a:r>
          </a:p>
          <a:p>
            <a:pPr marL="152400" indent="-152400">
              <a:buSzPct val="100000"/>
              <a:buChar char="•"/>
            </a:pPr>
            <a:endParaRPr lang="en-US" sz="1200" dirty="0">
              <a:solidFill>
                <a:srgbClr val="111827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152400" indent="-152400">
              <a:buSzPct val="100000"/>
              <a:buChar char="•"/>
            </a:pPr>
            <a:endParaRPr lang="en-US" sz="1200" dirty="0">
              <a:solidFill>
                <a:srgbClr val="111827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152400" indent="-152400">
              <a:buSzPct val="100000"/>
              <a:buChar char="•"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Context-dependent reasoning/factual abstraction has been reported in some works.</a:t>
            </a:r>
          </a:p>
          <a:p>
            <a:pPr marL="152400" indent="-152400">
              <a:buSzPct val="100000"/>
              <a:buChar char="•"/>
            </a:pPr>
            <a:endParaRPr lang="en-US" sz="1200" dirty="0">
              <a:solidFill>
                <a:srgbClr val="111827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152400" indent="-152400">
              <a:buSzPct val="100000"/>
              <a:buChar char="•"/>
            </a:pPr>
            <a:endParaRPr lang="en-US" sz="1200" dirty="0">
              <a:solidFill>
                <a:srgbClr val="111827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152400" indent="-152400">
              <a:buSzPct val="100000"/>
              <a:buChar char="•"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semantics (e.g., scientific) are sometimes weak and cause chain errors (e.g., </a:t>
            </a:r>
            <a:r>
              <a:rPr lang="en-US" sz="1200" dirty="0" err="1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coref</a:t>
            </a: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112557" y="1234440"/>
            <a:ext cx="3576218" cy="4343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2540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112557" y="1234440"/>
            <a:ext cx="3576218" cy="5029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341157" y="1344168"/>
            <a:ext cx="311901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Layers and geometry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341157" y="1920240"/>
            <a:ext cx="3119018" cy="28077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buSzPct val="100000"/>
              <a:buChar char="•"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is no definitive consensus on </a:t>
            </a:r>
            <a:r>
              <a:rPr lang="en-US" sz="1200" dirty="0" err="1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layerwise</a:t>
            </a: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location (middle vs upper vs lower depending on the model).</a:t>
            </a:r>
          </a:p>
          <a:p>
            <a:pPr marL="152400" indent="-152400">
              <a:buSzPct val="100000"/>
              <a:buChar char="•"/>
            </a:pPr>
            <a:endParaRPr lang="en-US" sz="1200" dirty="0">
              <a:solidFill>
                <a:srgbClr val="111827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152400" indent="-152400">
              <a:buSzPct val="100000"/>
              <a:buChar char="•"/>
            </a:pPr>
            <a:endParaRPr lang="en-US" sz="1200" dirty="0">
              <a:solidFill>
                <a:srgbClr val="111827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152400" indent="-152400">
              <a:buSzPct val="100000"/>
              <a:buChar char="•"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lower layers are often lexical.</a:t>
            </a:r>
          </a:p>
          <a:p>
            <a:pPr marL="152400" indent="-152400">
              <a:buSzPct val="100000"/>
              <a:buChar char="•"/>
            </a:pPr>
            <a:endParaRPr lang="en-US" sz="1200" dirty="0">
              <a:solidFill>
                <a:srgbClr val="111827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152400" indent="-152400">
              <a:buSzPct val="100000"/>
              <a:buChar char="•"/>
            </a:pPr>
            <a:endParaRPr lang="en-US" sz="1200" dirty="0">
              <a:solidFill>
                <a:srgbClr val="111827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152400" indent="-152400">
              <a:buSzPct val="100000"/>
              <a:buChar char="•"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existence of separate subspaces is reported for semantics and syntax.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31520" y="5806440"/>
            <a:ext cx="1072865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B1F3B"/>
          </a:solidFill>
          <a:ln w="12700">
            <a:solidFill>
              <a:srgbClr val="0B1F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28016"/>
            <a:ext cx="111858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9) Findings — Morphology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02920" y="6355080"/>
            <a:ext cx="1118585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644652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11 / 19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671255" y="644652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Survey + Prototype-ready deck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" y="777240"/>
            <a:ext cx="111858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Morphology is less studied, and tokenization is a serious obstacle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502920" y="1188720"/>
            <a:ext cx="5989320" cy="4892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135331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observations (from the Survey)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77240" y="1691640"/>
            <a:ext cx="5486400" cy="14097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studies examine morphology along with syntax (not independent).</a:t>
            </a:r>
          </a:p>
          <a:p>
            <a:pPr marL="177800" indent="-177800">
              <a:buSzPct val="100000"/>
              <a:buChar char="•"/>
            </a:pPr>
            <a:endParaRPr lang="en-US" sz="1400" dirty="0">
              <a:solidFill>
                <a:srgbClr val="111827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177800" indent="-177800">
              <a:buSzPct val="100000"/>
              <a:buChar char="•"/>
            </a:pPr>
            <a:endParaRPr lang="en-US" sz="1400" dirty="0">
              <a:solidFill>
                <a:srgbClr val="111827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Tokenization (</a:t>
            </a:r>
            <a:r>
              <a:rPr lang="en-US" sz="1400" dirty="0" err="1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WordPiece</a:t>
            </a: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/BPE) makes morphemes not always equivalent to tokens.</a:t>
            </a:r>
          </a:p>
          <a:p>
            <a:pPr marL="177800" indent="-177800">
              <a:buSzPct val="100000"/>
              <a:buChar char="•"/>
            </a:pPr>
            <a:endParaRPr lang="en-US" sz="1400" dirty="0">
              <a:solidFill>
                <a:srgbClr val="111827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177800" indent="-177800">
              <a:buSzPct val="100000"/>
              <a:buChar char="•"/>
            </a:pPr>
            <a:endParaRPr lang="en-US" sz="1400" dirty="0">
              <a:solidFill>
                <a:srgbClr val="111827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177800" indent="-177800">
              <a:buSzPct val="100000"/>
              <a:buChar char="•"/>
            </a:pPr>
            <a:r>
              <a:rPr lang="en-US" sz="1400" dirty="0" err="1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Layerwise</a:t>
            </a: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Sometimes similar to syntax (middle/upper), but depending on the language and model.</a:t>
            </a:r>
          </a:p>
          <a:p>
            <a:pPr marL="177800" indent="-177800">
              <a:buSzPct val="100000"/>
              <a:buChar char="•"/>
            </a:pPr>
            <a:endParaRPr lang="en-US" sz="1400" dirty="0">
              <a:solidFill>
                <a:srgbClr val="111827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177800" indent="-177800">
              <a:buSzPct val="100000"/>
              <a:buChar char="•"/>
            </a:pPr>
            <a:endParaRPr lang="en-US" sz="1400" dirty="0">
              <a:solidFill>
                <a:srgbClr val="111827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phenomena (number/tense) are reported in linear subspaces.</a:t>
            </a:r>
          </a:p>
          <a:p>
            <a:pPr marL="177800" indent="-177800">
              <a:buSzPct val="100000"/>
              <a:buChar char="•"/>
            </a:pPr>
            <a:endParaRPr lang="en-US" sz="1400" dirty="0">
              <a:solidFill>
                <a:srgbClr val="111827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177800" indent="-177800">
              <a:buSzPct val="100000"/>
              <a:buChar char="•"/>
            </a:pPr>
            <a:endParaRPr lang="en-US" sz="1400" dirty="0">
              <a:solidFill>
                <a:srgbClr val="111827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of common 'morphosyntax' neurons in </a:t>
            </a:r>
            <a:r>
              <a:rPr lang="en-US" sz="1400" dirty="0" err="1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mBERT</a:t>
            </a: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has been reported between languages.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629400" y="1188720"/>
            <a:ext cx="5059375" cy="2331720"/>
          </a:xfrm>
          <a:prstGeom prst="roundRect">
            <a:avLst/>
          </a:prstGeom>
          <a:solidFill>
            <a:srgbClr val="ECFEFF"/>
          </a:solidFill>
          <a:ln w="12700">
            <a:solidFill>
              <a:srgbClr val="A5F3F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12280" y="1353312"/>
            <a:ext cx="46478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5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Implications for Prototype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812280" y="1645920"/>
            <a:ext cx="4647895" cy="16824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65100" indent="-165100"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Persian/Turkish/Russian is selected: Be sure to report the sensitivity of the tokenizer.</a:t>
            </a:r>
          </a:p>
          <a:p>
            <a:pPr marL="165100" indent="-165100">
              <a:buSzPct val="100000"/>
              <a:buChar char="•"/>
            </a:pPr>
            <a:endParaRPr lang="en-US" sz="1300" dirty="0">
              <a:solidFill>
                <a:srgbClr val="111827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165100" indent="-165100"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class work: Agreement (number/tense) is very implementable with probing.</a:t>
            </a:r>
          </a:p>
          <a:p>
            <a:pPr marL="165100" indent="-165100">
              <a:buSzPct val="100000"/>
              <a:buChar char="•"/>
            </a:pPr>
            <a:endParaRPr lang="en-US" sz="1300" dirty="0">
              <a:solidFill>
                <a:srgbClr val="111827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165100" indent="-165100"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possible to specify which layers are better for number/tense.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629400" y="3703320"/>
            <a:ext cx="5059375" cy="2377440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12280" y="3867912"/>
            <a:ext cx="46478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5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Suggested Experiment (Quick)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812280" y="4160520"/>
            <a:ext cx="4647895" cy="182206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65100" indent="-165100"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 UD POS + Morph features (small subset).</a:t>
            </a:r>
          </a:p>
          <a:p>
            <a:pPr marL="165100" indent="-165100">
              <a:buSzPct val="100000"/>
              <a:buChar char="•"/>
            </a:pPr>
            <a:endParaRPr lang="en-US" sz="1300" dirty="0">
              <a:solidFill>
                <a:srgbClr val="111827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165100" indent="-165100"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Extract: embeddings of multiple layers (e.g., 1,4,8,12).</a:t>
            </a:r>
          </a:p>
          <a:p>
            <a:pPr marL="165100" indent="-165100">
              <a:buSzPct val="100000"/>
              <a:buChar char="•"/>
            </a:pPr>
            <a:endParaRPr lang="en-US" sz="1300" dirty="0">
              <a:solidFill>
                <a:srgbClr val="111827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165100" indent="-165100"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Probe: Logistic regression/small MLP for features like Number/Tense.</a:t>
            </a:r>
          </a:p>
          <a:p>
            <a:pPr marL="165100" indent="-165100">
              <a:buSzPct val="100000"/>
              <a:buChar char="•"/>
            </a:pPr>
            <a:endParaRPr lang="en-US" sz="1300" dirty="0">
              <a:solidFill>
                <a:srgbClr val="111827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165100" indent="-165100"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accuracy per layer + chart + analysis.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B1F3B"/>
          </a:solidFill>
          <a:ln w="12700">
            <a:solidFill>
              <a:srgbClr val="0B1F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28016"/>
            <a:ext cx="111858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10) Discourse and Minor Issues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02920" y="6355080"/>
            <a:ext cx="1118585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644652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12 / 19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671255" y="644652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Survey + Prototype-ready deck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" y="777240"/>
            <a:ext cx="111858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9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is a lot of research that has been done on the subject (6 articles), but it has some interesting findings.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502920" y="1234440"/>
            <a:ext cx="3576218" cy="4343400"/>
          </a:xfrm>
          <a:prstGeom prst="roundRect">
            <a:avLst/>
          </a:prstGeom>
          <a:solidFill>
            <a:srgbClr val="FFFBEB"/>
          </a:solidFill>
          <a:ln w="12700">
            <a:solidFill>
              <a:srgbClr val="FDE68A"/>
            </a:solidFill>
            <a:prstDash val="solid"/>
          </a:ln>
          <a:effectLst>
            <a:outerShdw blurRad="25400" dist="127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31520" y="1371600"/>
            <a:ext cx="311901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Discourse findings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31520" y="1737359"/>
            <a:ext cx="3119018" cy="228883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buSzPct val="100000"/>
              <a:buChar char="•"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Coherence and discourse relationships are seen to some extent in embeddings.</a:t>
            </a:r>
          </a:p>
          <a:p>
            <a:pPr marL="152400" indent="-152400">
              <a:buSzPct val="100000"/>
              <a:buChar char="•"/>
            </a:pPr>
            <a:endParaRPr lang="en-US" sz="1200" dirty="0">
              <a:solidFill>
                <a:srgbClr val="111827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152400" indent="-152400">
              <a:buSzPct val="100000"/>
              <a:buChar char="•"/>
            </a:pPr>
            <a:endParaRPr lang="en-US" sz="1200" dirty="0">
              <a:solidFill>
                <a:srgbClr val="111827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152400" indent="-152400">
              <a:buSzPct val="100000"/>
              <a:buChar char="•"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sensitivity to disfluency decreases with the depth of the layer (the representations become more similar).</a:t>
            </a:r>
          </a:p>
          <a:p>
            <a:pPr marL="152400" indent="-152400">
              <a:buSzPct val="100000"/>
              <a:buChar char="•"/>
            </a:pPr>
            <a:endParaRPr lang="en-US" sz="1200" dirty="0">
              <a:solidFill>
                <a:srgbClr val="111827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152400" indent="-152400">
              <a:buSzPct val="100000"/>
              <a:buChar char="•"/>
            </a:pPr>
            <a:endParaRPr lang="en-US" sz="1200" dirty="0">
              <a:solidFill>
                <a:srgbClr val="111827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152400" indent="-152400">
              <a:buSzPct val="100000"/>
              <a:buChar char="•"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RST: Some jobs report the intermediate layers more strongly.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307738" y="1234440"/>
            <a:ext cx="3576218" cy="434340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  <a:effectLst>
            <a:outerShdw blurRad="25400" dist="127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536338" y="1371600"/>
            <a:ext cx="311901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Knowledge-domain neurons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36338" y="1737360"/>
            <a:ext cx="3119018" cy="24518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buSzPct val="100000"/>
              <a:buChar char="•"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the presence of "scoped" neurons (social media / science / noun-heavy ...).</a:t>
            </a:r>
          </a:p>
          <a:p>
            <a:pPr marL="152400" indent="-152400">
              <a:buSzPct val="100000"/>
              <a:buChar char="•"/>
            </a:pPr>
            <a:endParaRPr lang="en-US" sz="1200" dirty="0">
              <a:solidFill>
                <a:srgbClr val="111827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152400" indent="-152400">
              <a:buSzPct val="100000"/>
              <a:buChar char="•"/>
            </a:pPr>
            <a:endParaRPr lang="en-US" sz="1200" dirty="0">
              <a:solidFill>
                <a:srgbClr val="111827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152400" indent="-152400">
              <a:buSzPct val="100000"/>
              <a:buChar char="•"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 by clustering the activation of neurons on sentences.</a:t>
            </a:r>
          </a:p>
          <a:p>
            <a:pPr marL="152400" indent="-152400">
              <a:buSzPct val="100000"/>
              <a:buChar char="•"/>
            </a:pPr>
            <a:endParaRPr lang="en-US" sz="1200" dirty="0">
              <a:solidFill>
                <a:srgbClr val="111827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152400" indent="-152400">
              <a:buSzPct val="100000"/>
              <a:buChar char="•"/>
            </a:pPr>
            <a:endParaRPr lang="en-US" sz="1200" dirty="0">
              <a:solidFill>
                <a:srgbClr val="111827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152400" indent="-152400">
              <a:buSzPct val="100000"/>
              <a:buChar char="•"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the project: A simple simulation can be done with activation statistics.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112557" y="1234440"/>
            <a:ext cx="3576218" cy="4343400"/>
          </a:xfrm>
          <a:prstGeom prst="roundRect">
            <a:avLst/>
          </a:prstGeom>
          <a:solidFill>
            <a:srgbClr val="ECFEFF"/>
          </a:solidFill>
          <a:ln w="12700">
            <a:solidFill>
              <a:srgbClr val="A5F3FC"/>
            </a:solidFill>
            <a:prstDash val="solid"/>
          </a:ln>
          <a:effectLst>
            <a:outerShdw blurRad="25400" dist="127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341157" y="1371600"/>
            <a:ext cx="311901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Multilingual shared space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341157" y="1737359"/>
            <a:ext cx="3119018" cy="270704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buSzPct val="100000"/>
              <a:buChar char="•"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Hypothesis: Common parameters → alignment of structures between languages.</a:t>
            </a:r>
          </a:p>
          <a:p>
            <a:pPr marL="152400" indent="-152400">
              <a:buSzPct val="100000"/>
              <a:buChar char="•"/>
            </a:pPr>
            <a:endParaRPr lang="en-US" sz="1200" dirty="0">
              <a:solidFill>
                <a:srgbClr val="111827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152400" indent="-152400">
              <a:buSzPct val="100000"/>
              <a:buChar char="•"/>
            </a:pPr>
            <a:endParaRPr lang="en-US" sz="1200" dirty="0">
              <a:solidFill>
                <a:srgbClr val="111827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152400" indent="-152400">
              <a:buSzPct val="100000"/>
              <a:buChar char="•"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Mixed evidence: Some phenomena are shared, some are not (e.g., agreement in masked LMs).</a:t>
            </a:r>
          </a:p>
          <a:p>
            <a:pPr marL="152400" indent="-152400">
              <a:buSzPct val="100000"/>
              <a:buChar char="•"/>
            </a:pPr>
            <a:endParaRPr lang="en-US" sz="1200" dirty="0">
              <a:solidFill>
                <a:srgbClr val="111827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152400" indent="-152400">
              <a:buSzPct val="100000"/>
              <a:buChar char="•"/>
            </a:pPr>
            <a:endParaRPr lang="en-US" sz="1200" dirty="0">
              <a:solidFill>
                <a:srgbClr val="111827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152400" indent="-152400">
              <a:buSzPct val="100000"/>
              <a:buChar char="•"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order plays a key role in several studies.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02920" y="5715000"/>
            <a:ext cx="11185855" cy="438912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731520" y="5806440"/>
            <a:ext cx="1072865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this slide as "Lesser-said but interesting"</a:t>
            </a:r>
            <a:r>
              <a:rPr lang="fa-IR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B1F3B"/>
          </a:solidFill>
          <a:ln w="12700">
            <a:solidFill>
              <a:srgbClr val="0B1F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28016"/>
            <a:ext cx="111858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11) Caveats, pitfalls, open problems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02920" y="6355080"/>
            <a:ext cx="1118585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644652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13 / 19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671255" y="644652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Survey + Prototype-ready deck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" y="777240"/>
            <a:ext cx="111858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aren't interpretability results always "proven"?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502920" y="1188720"/>
            <a:ext cx="5989320" cy="4892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135331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≠ Causation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77240" y="1691639"/>
            <a:ext cx="5486400" cy="350413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Linguistic information may be "extractable" in embedding, but the model may not use it in inference.</a:t>
            </a:r>
            <a:endParaRPr lang="fa-IR" sz="1400" dirty="0">
              <a:solidFill>
                <a:srgbClr val="111827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177800" indent="-177800">
              <a:buSzPct val="100000"/>
              <a:buChar char="•"/>
            </a:pPr>
            <a:endParaRPr lang="fa-IR" sz="1400" dirty="0">
              <a:solidFill>
                <a:srgbClr val="111827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177800" indent="-177800">
              <a:buSzPct val="100000"/>
              <a:buChar char="•"/>
            </a:pPr>
            <a:endParaRPr lang="fa-IR" sz="1400" dirty="0">
              <a:solidFill>
                <a:srgbClr val="111827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Probes may learn the task rather than recognize the knowledge of the model.</a:t>
            </a:r>
            <a:endParaRPr lang="fa-IR" sz="1400" dirty="0">
              <a:solidFill>
                <a:srgbClr val="111827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177800" indent="-177800">
              <a:buSzPct val="100000"/>
              <a:buChar char="•"/>
            </a:pPr>
            <a:endParaRPr lang="fa-IR" sz="1400" dirty="0">
              <a:solidFill>
                <a:srgbClr val="111827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177800" indent="-177800">
              <a:buSzPct val="100000"/>
              <a:buChar char="•"/>
            </a:pPr>
            <a:endParaRPr lang="fa-IR" sz="1400" dirty="0">
              <a:solidFill>
                <a:srgbClr val="111827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Solutions: control tasks, causal probes (amnesic/information-theoretic/dropout...).</a:t>
            </a:r>
            <a:endParaRPr lang="fa-IR" sz="1400" dirty="0">
              <a:solidFill>
                <a:srgbClr val="111827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177800" indent="-177800">
              <a:buSzPct val="100000"/>
              <a:buChar char="•"/>
            </a:pPr>
            <a:endParaRPr lang="fa-IR" sz="1400" dirty="0">
              <a:solidFill>
                <a:srgbClr val="111827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177800" indent="-177800">
              <a:buSzPct val="100000"/>
              <a:buChar char="•"/>
            </a:pPr>
            <a:endParaRPr lang="fa-IR" sz="1400" dirty="0">
              <a:solidFill>
                <a:srgbClr val="111827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metric (accuracy only) can be misleading.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629400" y="1188720"/>
            <a:ext cx="5059375" cy="4892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12280" y="1353312"/>
            <a:ext cx="460217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have new LLMs become harder to analyze?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812280" y="1691640"/>
            <a:ext cx="4602175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size ↑ → Cost of extraction/internal analysis ↑Some models are closed (parameters/heads are not available).</a:t>
            </a:r>
            <a:endParaRPr lang="fa-IR" sz="1400" dirty="0">
              <a:solidFill>
                <a:srgbClr val="111827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177800" indent="-177800">
              <a:buSzPct val="100000"/>
              <a:buChar char="•"/>
            </a:pPr>
            <a:endParaRPr lang="fa-IR" sz="1400" dirty="0">
              <a:solidFill>
                <a:srgbClr val="111827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177800" indent="-177800">
              <a:buSzPct val="100000"/>
              <a:buChar char="•"/>
            </a:pPr>
            <a:endParaRPr lang="fa-IR" sz="1400" dirty="0">
              <a:solidFill>
                <a:srgbClr val="111827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Tendency to prompting in studies ↑, but transparency/internal analysis ↓</a:t>
            </a:r>
            <a:endParaRPr lang="fa-IR" sz="1400" dirty="0">
              <a:solidFill>
                <a:srgbClr val="111827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177800" indent="-177800">
              <a:buSzPct val="100000"/>
              <a:buChar char="•"/>
            </a:pPr>
            <a:endParaRPr lang="fa-IR" sz="1400" dirty="0">
              <a:solidFill>
                <a:srgbClr val="111827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177800" indent="-177800">
              <a:buSzPct val="100000"/>
              <a:buChar char="•"/>
            </a:pPr>
            <a:endParaRPr lang="fa-IR" sz="1400" dirty="0">
              <a:solidFill>
                <a:srgbClr val="111827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Conclusion: Research is still very much focused on the BERT-family.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995160" y="4599432"/>
            <a:ext cx="4419295" cy="9423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65100" indent="-165100">
              <a:buSzPct val="100000"/>
              <a:buChar char="•"/>
            </a:pP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B1F3B"/>
          </a:solidFill>
          <a:ln w="12700">
            <a:solidFill>
              <a:srgbClr val="0B1F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28016"/>
            <a:ext cx="111858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0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12)</a:t>
            </a:r>
            <a:r>
              <a:rPr lang="en-US" b="1" dirty="0">
                <a:solidFill>
                  <a:schemeClr val="bg1"/>
                </a:solidFill>
              </a:rPr>
              <a:t> </a:t>
            </a:r>
            <a:r>
              <a:rPr lang="en-US" sz="2000" b="1" dirty="0">
                <a:solidFill>
                  <a:schemeClr val="bg1"/>
                </a:solidFill>
              </a:rPr>
              <a:t>Prototype – What Was Implemented</a:t>
            </a:r>
          </a:p>
        </p:txBody>
      </p:sp>
      <p:sp>
        <p:nvSpPr>
          <p:cNvPr id="4" name="Shape 2"/>
          <p:cNvSpPr/>
          <p:nvPr/>
        </p:nvSpPr>
        <p:spPr>
          <a:xfrm>
            <a:off x="502920" y="6355080"/>
            <a:ext cx="1118585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644652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14 / 19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671255" y="644652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Survey + Prototype-ready deck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" y="708406"/>
            <a:ext cx="111858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000" b="1" dirty="0"/>
              <a:t>Prototype Overview</a:t>
            </a:r>
          </a:p>
        </p:txBody>
      </p:sp>
      <p:sp>
        <p:nvSpPr>
          <p:cNvPr id="8" name="Shape 6"/>
          <p:cNvSpPr/>
          <p:nvPr/>
        </p:nvSpPr>
        <p:spPr>
          <a:xfrm>
            <a:off x="502920" y="1188720"/>
            <a:ext cx="5989320" cy="4892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1627632"/>
            <a:ext cx="5486400" cy="414705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85750" indent="-285750">
              <a:buSzPct val="100000"/>
              <a:buFont typeface="Wingdings" panose="05000000000000000000" pitchFamily="2" charset="2"/>
              <a:buChar char="ü"/>
            </a:pPr>
            <a:r>
              <a:rPr lang="en-US" dirty="0"/>
              <a:t>Model: </a:t>
            </a:r>
            <a:r>
              <a:rPr lang="en-US" dirty="0" err="1"/>
              <a:t>bert</a:t>
            </a:r>
            <a:r>
              <a:rPr lang="en-US" dirty="0"/>
              <a:t>-base-multilingual-cased (Transformer encoder) </a:t>
            </a:r>
          </a:p>
          <a:p>
            <a:pPr marL="285750" indent="-285750">
              <a:buSzPct val="100000"/>
              <a:buFont typeface="Wingdings" panose="05000000000000000000" pitchFamily="2" charset="2"/>
              <a:buChar char="ü"/>
            </a:pPr>
            <a:endParaRPr lang="en-US" dirty="0"/>
          </a:p>
          <a:p>
            <a:pPr marL="285750" indent="-285750">
              <a:buSzPct val="100000"/>
              <a:buFont typeface="Wingdings" panose="05000000000000000000" pitchFamily="2" charset="2"/>
              <a:buChar char="ü"/>
            </a:pPr>
            <a:r>
              <a:rPr lang="en-US" dirty="0"/>
              <a:t>Data: Universal Dependencies (UD) – POS annotations</a:t>
            </a:r>
          </a:p>
          <a:p>
            <a:pPr marL="285750" indent="-285750">
              <a:buSzPct val="100000"/>
              <a:buFont typeface="Wingdings" panose="05000000000000000000" pitchFamily="2" charset="2"/>
              <a:buChar char="ü"/>
            </a:pPr>
            <a:endParaRPr lang="en-US" dirty="0"/>
          </a:p>
          <a:p>
            <a:pPr marL="285750" indent="-285750">
              <a:buSzPct val="100000"/>
              <a:buFont typeface="Wingdings" panose="05000000000000000000" pitchFamily="2" charset="2"/>
              <a:buChar char="ü"/>
            </a:pPr>
            <a:r>
              <a:rPr lang="en-US" dirty="0"/>
              <a:t>Method: Layer-wise probing of contextual embeddings</a:t>
            </a:r>
          </a:p>
          <a:p>
            <a:pPr marL="285750" indent="-285750">
              <a:buSzPct val="100000"/>
              <a:buFont typeface="Wingdings" panose="05000000000000000000" pitchFamily="2" charset="2"/>
              <a:buChar char="ü"/>
            </a:pPr>
            <a:endParaRPr lang="en-US" dirty="0"/>
          </a:p>
          <a:p>
            <a:pPr marL="285750" indent="-285750">
              <a:buSzPct val="100000"/>
              <a:buFont typeface="Wingdings" panose="05000000000000000000" pitchFamily="2" charset="2"/>
              <a:buChar char="ü"/>
            </a:pPr>
            <a:r>
              <a:rPr lang="en-US" dirty="0"/>
              <a:t>Analysis: Extraction of hidden states from multiple Transformer layers</a:t>
            </a:r>
          </a:p>
          <a:p>
            <a:pPr marL="285750" indent="-285750">
              <a:buSzPct val="100000"/>
              <a:buFont typeface="Wingdings" panose="05000000000000000000" pitchFamily="2" charset="2"/>
              <a:buChar char="ü"/>
            </a:pPr>
            <a:endParaRPr lang="en-US" dirty="0"/>
          </a:p>
          <a:p>
            <a:pPr marL="285750" indent="-285750">
              <a:buSzPct val="100000"/>
              <a:buFont typeface="Wingdings" panose="05000000000000000000" pitchFamily="2" charset="2"/>
              <a:buChar char="ü"/>
            </a:pPr>
            <a:r>
              <a:rPr lang="en-US" dirty="0"/>
              <a:t>Goal: Demonstrate how syntactic information is distributed across layers</a:t>
            </a:r>
            <a:br>
              <a:rPr lang="en-US" sz="1400" dirty="0"/>
            </a:br>
            <a:br>
              <a:rPr lang="en-US" sz="1400" dirty="0"/>
            </a:b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629400" y="3886200"/>
            <a:ext cx="5059375" cy="2194560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12280" y="4343400"/>
            <a:ext cx="4647895" cy="14312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65100" indent="-165100">
              <a:buSzPct val="100000"/>
              <a:buChar char="•"/>
            </a:pPr>
            <a:r>
              <a:rPr lang="en-US" sz="2400" dirty="0"/>
              <a:t>&gt; This prototype is inspired by the dominant interpretability methods identified in the survey.</a:t>
            </a:r>
            <a:endParaRPr lang="en-US" sz="2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C1FB178-3580-023F-3098-73F8FBCAA9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10FF50F7-52FC-AEE5-3E77-BCEFB0DE9924}"/>
              </a:ext>
            </a:extLst>
          </p:cNvPr>
          <p:cNvSpPr/>
          <p:nvPr/>
        </p:nvSpPr>
        <p:spPr>
          <a:xfrm>
            <a:off x="305" y="0"/>
            <a:ext cx="12191695" cy="566928"/>
          </a:xfrm>
          <a:prstGeom prst="rect">
            <a:avLst/>
          </a:prstGeom>
          <a:solidFill>
            <a:srgbClr val="0B1F3B"/>
          </a:solidFill>
          <a:ln w="12700">
            <a:solidFill>
              <a:srgbClr val="0B1F3B"/>
            </a:solidFill>
            <a:prstDash val="solid"/>
          </a:ln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DDD4FF0D-93F8-8608-9197-1ED1C6F4548D}"/>
              </a:ext>
            </a:extLst>
          </p:cNvPr>
          <p:cNvSpPr/>
          <p:nvPr/>
        </p:nvSpPr>
        <p:spPr>
          <a:xfrm>
            <a:off x="502920" y="128016"/>
            <a:ext cx="111858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000" b="1" dirty="0">
                <a:solidFill>
                  <a:schemeClr val="bg1"/>
                </a:solidFill>
              </a:rPr>
              <a:t>13) Demo Results – Layer-wise Probing</a:t>
            </a:r>
            <a:endParaRPr lang="en-US" sz="2400" b="1" dirty="0">
              <a:solidFill>
                <a:schemeClr val="bg1"/>
              </a:solidFill>
            </a:endParaRP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598B7D5C-DADB-3A76-B535-44323AE06BE9}"/>
              </a:ext>
            </a:extLst>
          </p:cNvPr>
          <p:cNvSpPr/>
          <p:nvPr/>
        </p:nvSpPr>
        <p:spPr>
          <a:xfrm>
            <a:off x="502920" y="6355080"/>
            <a:ext cx="1118585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D85CC85B-968F-3106-7D2E-5A3076AC9034}"/>
              </a:ext>
            </a:extLst>
          </p:cNvPr>
          <p:cNvSpPr/>
          <p:nvPr/>
        </p:nvSpPr>
        <p:spPr>
          <a:xfrm>
            <a:off x="502920" y="644652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15 / 19</a:t>
            </a:r>
            <a:endParaRPr lang="en-US" sz="11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FBDE4933-9CB7-E0F5-1A34-63A1520F9D0C}"/>
              </a:ext>
            </a:extLst>
          </p:cNvPr>
          <p:cNvSpPr/>
          <p:nvPr/>
        </p:nvSpPr>
        <p:spPr>
          <a:xfrm>
            <a:off x="8671255" y="644652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Survey + Prototype-ready deck</a:t>
            </a:r>
            <a:endParaRPr lang="en-US" sz="11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9D1757A9-AA21-8F97-8FA2-E7D8AFF5C765}"/>
              </a:ext>
            </a:extLst>
          </p:cNvPr>
          <p:cNvSpPr/>
          <p:nvPr/>
        </p:nvSpPr>
        <p:spPr>
          <a:xfrm>
            <a:off x="502920" y="708406"/>
            <a:ext cx="111858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000" b="1" dirty="0"/>
              <a:t>Prototype Overview</a:t>
            </a:r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90123A5F-4A4D-0994-DA44-C59BA3711B75}"/>
              </a:ext>
            </a:extLst>
          </p:cNvPr>
          <p:cNvSpPr/>
          <p:nvPr/>
        </p:nvSpPr>
        <p:spPr>
          <a:xfrm>
            <a:off x="502920" y="1188720"/>
            <a:ext cx="4834624" cy="4892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341FF193-EC28-4EB4-E107-1477DEB5B2A1}"/>
              </a:ext>
            </a:extLst>
          </p:cNvPr>
          <p:cNvSpPr/>
          <p:nvPr/>
        </p:nvSpPr>
        <p:spPr>
          <a:xfrm>
            <a:off x="777240" y="1627632"/>
            <a:ext cx="4432713" cy="414705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85750" indent="-285750">
              <a:buSzPct val="100000"/>
              <a:buFont typeface="Wingdings" panose="05000000000000000000" pitchFamily="2" charset="2"/>
              <a:buChar char="ü"/>
            </a:pPr>
            <a:r>
              <a:rPr lang="en-US" sz="2400" dirty="0"/>
              <a:t>Key Observations</a:t>
            </a:r>
            <a:br>
              <a:rPr lang="en-US" sz="2400" dirty="0"/>
            </a:br>
            <a:r>
              <a:rPr lang="en-US" sz="2400" dirty="0"/>
              <a:t>Syntactic information is not uniformly distributed across layers</a:t>
            </a:r>
            <a:br>
              <a:rPr lang="en-US" sz="2400" dirty="0"/>
            </a:br>
            <a:r>
              <a:rPr lang="en-US" sz="2400" dirty="0"/>
              <a:t>Middle layers tend to show stronger POS predictability</a:t>
            </a:r>
            <a:br>
              <a:rPr lang="en-US" sz="2400" dirty="0"/>
            </a:br>
            <a:r>
              <a:rPr lang="en-US" sz="2400" dirty="0"/>
              <a:t>Lower layers capture more lexical information</a:t>
            </a:r>
            <a:br>
              <a:rPr lang="en-US" sz="2400" dirty="0"/>
            </a:br>
            <a:r>
              <a:rPr lang="en-US" sz="2400" dirty="0"/>
              <a:t>Upper layers show more abstract representations</a:t>
            </a:r>
            <a:endParaRPr lang="en-US" sz="1600" dirty="0"/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01466993-A081-6193-7F81-728EEF319CBF}"/>
              </a:ext>
            </a:extLst>
          </p:cNvPr>
          <p:cNvSpPr/>
          <p:nvPr/>
        </p:nvSpPr>
        <p:spPr>
          <a:xfrm>
            <a:off x="6316601" y="5593158"/>
            <a:ext cx="5059375" cy="466769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5EA6249E-67FF-DA2F-4EBB-0EDFB6225880}"/>
              </a:ext>
            </a:extLst>
          </p:cNvPr>
          <p:cNvSpPr/>
          <p:nvPr/>
        </p:nvSpPr>
        <p:spPr>
          <a:xfrm>
            <a:off x="6766560" y="5593158"/>
            <a:ext cx="3776025" cy="58301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65100" indent="-165100">
              <a:buSzPct val="100000"/>
              <a:buChar char="•"/>
            </a:pPr>
            <a:endParaRPr lang="en-US" sz="20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7BF99F0-7EC3-E018-9547-F160FDCEBC94}"/>
              </a:ext>
            </a:extLst>
          </p:cNvPr>
          <p:cNvSpPr txBox="1"/>
          <p:nvPr/>
        </p:nvSpPr>
        <p:spPr>
          <a:xfrm>
            <a:off x="7448106" y="5626487"/>
            <a:ext cx="27963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layer-wise accuracy plot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7B822F8-6F6F-1F80-95DE-7D2266B656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475" y="1094998"/>
            <a:ext cx="6071628" cy="42976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081844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Arrow: Down 33">
            <a:extLst>
              <a:ext uri="{FF2B5EF4-FFF2-40B4-BE49-F238E27FC236}">
                <a16:creationId xmlns:a16="http://schemas.microsoft.com/office/drawing/2014/main" id="{4A56D394-8802-99B8-810D-E9E89FEA9EC3}"/>
              </a:ext>
            </a:extLst>
          </p:cNvPr>
          <p:cNvSpPr/>
          <p:nvPr/>
        </p:nvSpPr>
        <p:spPr>
          <a:xfrm>
            <a:off x="6288962" y="2093976"/>
            <a:ext cx="3711155" cy="720092"/>
          </a:xfrm>
          <a:prstGeom prst="downArrow">
            <a:avLst/>
          </a:prstGeom>
          <a:solidFill>
            <a:srgbClr val="1D314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2060"/>
              </a:solidFill>
            </a:endParaRPr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B1F3B"/>
          </a:solidFill>
          <a:ln w="12700">
            <a:solidFill>
              <a:srgbClr val="0B1F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28016"/>
            <a:ext cx="111858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14)</a:t>
            </a:r>
            <a:r>
              <a:rPr lang="en-US" dirty="0"/>
              <a:t> </a:t>
            </a:r>
            <a:r>
              <a:rPr lang="en-US" sz="2000" b="1" dirty="0">
                <a:solidFill>
                  <a:schemeClr val="bg1"/>
                </a:solidFill>
              </a:rPr>
              <a:t>Attention Visualization (Example)</a:t>
            </a:r>
          </a:p>
        </p:txBody>
      </p:sp>
      <p:sp>
        <p:nvSpPr>
          <p:cNvPr id="4" name="Shape 2"/>
          <p:cNvSpPr/>
          <p:nvPr/>
        </p:nvSpPr>
        <p:spPr>
          <a:xfrm>
            <a:off x="502920" y="6355080"/>
            <a:ext cx="1118585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644652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16 / 19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671255" y="644652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Survey + Prototype-ready deck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" y="777240"/>
            <a:ext cx="111858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000" dirty="0"/>
              <a:t>Attention-Based Analysis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502920" y="1234440"/>
            <a:ext cx="2057400" cy="82296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E5E7EB"/>
            </a:solidFill>
            <a:prstDash val="solid"/>
          </a:ln>
          <a:effectLst>
            <a:outerShdw blurRad="25400" dist="127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94360" y="1344168"/>
            <a:ext cx="1874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(UD subset)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606040" y="1463040"/>
            <a:ext cx="228600" cy="365760"/>
          </a:xfrm>
          <a:prstGeom prst="rightArrow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834640" y="1234440"/>
            <a:ext cx="2057400" cy="822960"/>
          </a:xfrm>
          <a:prstGeom prst="roundRect">
            <a:avLst/>
          </a:prstGeom>
          <a:solidFill>
            <a:srgbClr val="ECFEFF"/>
          </a:solidFill>
          <a:ln w="12700">
            <a:solidFill>
              <a:srgbClr val="E5E7EB"/>
            </a:solidFill>
            <a:prstDash val="solid"/>
          </a:ln>
          <a:effectLst>
            <a:outerShdw blurRad="25400" dist="127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926080" y="1344168"/>
            <a:ext cx="1874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Tokenizer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(BPE/WordPiece)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937760" y="1463040"/>
            <a:ext cx="228600" cy="365760"/>
          </a:xfrm>
          <a:prstGeom prst="rightArrow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166360" y="1234440"/>
            <a:ext cx="2057400" cy="822960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E5E7EB"/>
            </a:solidFill>
            <a:prstDash val="solid"/>
          </a:ln>
          <a:effectLst>
            <a:outerShdw blurRad="25400" dist="127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257800" y="1344168"/>
            <a:ext cx="1874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PLM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(bert-base)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269480" y="1463040"/>
            <a:ext cx="228600" cy="365760"/>
          </a:xfrm>
          <a:prstGeom prst="rightArrow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498080" y="1234440"/>
            <a:ext cx="2057400" cy="822960"/>
          </a:xfrm>
          <a:prstGeom prst="roundRect">
            <a:avLst/>
          </a:prstGeom>
          <a:solidFill>
            <a:srgbClr val="FFFBEB"/>
          </a:solidFill>
          <a:ln w="12700">
            <a:solidFill>
              <a:srgbClr val="E5E7EB"/>
            </a:solidFill>
            <a:prstDash val="solid"/>
          </a:ln>
          <a:effectLst>
            <a:outerShdw blurRad="25400" dist="127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589520" y="1344168"/>
            <a:ext cx="1874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embeddings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9601200" y="1463040"/>
            <a:ext cx="228600" cy="365760"/>
          </a:xfrm>
          <a:prstGeom prst="rightArrow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829800" y="1234440"/>
            <a:ext cx="2057400" cy="822960"/>
          </a:xfrm>
          <a:prstGeom prst="roundRect">
            <a:avLst/>
          </a:prstGeom>
          <a:solidFill>
            <a:srgbClr val="FEE2E2"/>
          </a:solidFill>
          <a:ln w="12700">
            <a:solidFill>
              <a:srgbClr val="E5E7EB"/>
            </a:solidFill>
            <a:prstDash val="solid"/>
          </a:ln>
          <a:effectLst>
            <a:outerShdw blurRad="25400" dist="127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9921240" y="1344168"/>
            <a:ext cx="1874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Probe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(LogReg/MLP)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932960" y="2146554"/>
            <a:ext cx="2423160" cy="58978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attention heatmap image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25" name="Shape 23"/>
          <p:cNvSpPr/>
          <p:nvPr/>
        </p:nvSpPr>
        <p:spPr>
          <a:xfrm>
            <a:off x="502920" y="2834640"/>
            <a:ext cx="11185855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2920" y="2885322"/>
            <a:ext cx="3453100" cy="31904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buSzPct val="100000"/>
              <a:buChar char="•"/>
            </a:pPr>
            <a:r>
              <a:rPr lang="en-US" sz="2000" dirty="0"/>
              <a:t>Selected attention heads show structured patterns</a:t>
            </a:r>
            <a:br>
              <a:rPr lang="en-US" sz="1600" dirty="0"/>
            </a:br>
            <a:r>
              <a:rPr lang="en-US" sz="2000" dirty="0"/>
              <a:t>Some heads align with syntactic relations (e.g., local dependencies)</a:t>
            </a:r>
            <a:br>
              <a:rPr lang="en-US" sz="1600" dirty="0"/>
            </a:br>
            <a:r>
              <a:rPr lang="en-US" sz="2000" dirty="0"/>
              <a:t>Attention analysis complements probing but does not replace it</a:t>
            </a:r>
            <a:endParaRPr lang="en-US" sz="1600" dirty="0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CE10BE8E-C1C3-A5F8-D892-1AE2EA73F2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2502" y="2848357"/>
            <a:ext cx="6904076" cy="3227442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999" cy="566928"/>
          </a:xfrm>
          <a:prstGeom prst="rect">
            <a:avLst/>
          </a:prstGeom>
          <a:solidFill>
            <a:srgbClr val="0B1F3B"/>
          </a:solidFill>
          <a:ln w="12700">
            <a:solidFill>
              <a:srgbClr val="0B1F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1" y="128016"/>
            <a:ext cx="288532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0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15)</a:t>
            </a:r>
            <a:r>
              <a:rPr lang="en-US" b="1" dirty="0">
                <a:solidFill>
                  <a:schemeClr val="bg1"/>
                </a:solidFill>
              </a:rPr>
              <a:t> Limitations &amp; Disclaimer</a:t>
            </a:r>
            <a:endParaRPr lang="en-US" sz="2000" b="1" dirty="0">
              <a:solidFill>
                <a:schemeClr val="bg1"/>
              </a:solidFill>
            </a:endParaRPr>
          </a:p>
        </p:txBody>
      </p:sp>
      <p:sp>
        <p:nvSpPr>
          <p:cNvPr id="4" name="Shape 2"/>
          <p:cNvSpPr/>
          <p:nvPr/>
        </p:nvSpPr>
        <p:spPr>
          <a:xfrm>
            <a:off x="502920" y="6355080"/>
            <a:ext cx="1118585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644652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17 / 19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671255" y="644652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Survey + Prototype-ready deck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02920" y="1188720"/>
            <a:ext cx="11185855" cy="42267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2540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77240" y="1597364"/>
            <a:ext cx="4298743" cy="403647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85750" indent="-285750">
              <a:buSzPct val="100000"/>
              <a:buFont typeface="Wingdings" panose="05000000000000000000" pitchFamily="2" charset="2"/>
              <a:buChar char="ü"/>
            </a:pPr>
            <a:r>
              <a:rPr lang="en-US" dirty="0"/>
              <a:t>Important Caveats</a:t>
            </a:r>
          </a:p>
          <a:p>
            <a:pPr marL="285750" indent="-285750">
              <a:buSzPct val="100000"/>
              <a:buFont typeface="Wingdings" panose="05000000000000000000" pitchFamily="2" charset="2"/>
              <a:buChar char="ü"/>
            </a:pPr>
            <a:endParaRPr lang="en-US" dirty="0"/>
          </a:p>
          <a:p>
            <a:pPr marL="285750" indent="-285750">
              <a:buSzPct val="100000"/>
              <a:buFont typeface="Wingdings" panose="05000000000000000000" pitchFamily="2" charset="2"/>
              <a:buChar char="ü"/>
            </a:pPr>
            <a:r>
              <a:rPr lang="en-US" dirty="0"/>
              <a:t>This is a survey-based prototype, not a replication study</a:t>
            </a:r>
          </a:p>
          <a:p>
            <a:pPr marL="285750" indent="-285750">
              <a:buSzPct val="100000"/>
              <a:buFont typeface="Wingdings" panose="05000000000000000000" pitchFamily="2" charset="2"/>
              <a:buChar char="ü"/>
            </a:pPr>
            <a:endParaRPr lang="en-US" dirty="0"/>
          </a:p>
          <a:p>
            <a:pPr marL="285750" indent="-285750">
              <a:buSzPct val="100000"/>
              <a:buFont typeface="Wingdings" panose="05000000000000000000" pitchFamily="2" charset="2"/>
              <a:buChar char="ü"/>
            </a:pPr>
            <a:r>
              <a:rPr lang="en-US" dirty="0"/>
              <a:t>Probing measures extractability, not causal usage</a:t>
            </a:r>
          </a:p>
          <a:p>
            <a:pPr marL="285750" indent="-285750">
              <a:buSzPct val="100000"/>
              <a:buFont typeface="Wingdings" panose="05000000000000000000" pitchFamily="2" charset="2"/>
              <a:buChar char="ü"/>
            </a:pPr>
            <a:endParaRPr lang="en-US" dirty="0"/>
          </a:p>
          <a:p>
            <a:pPr marL="285750" indent="-285750">
              <a:buSzPct val="100000"/>
              <a:buFont typeface="Wingdings" panose="05000000000000000000" pitchFamily="2" charset="2"/>
              <a:buChar char="ü"/>
            </a:pPr>
            <a:r>
              <a:rPr lang="en-US" dirty="0"/>
              <a:t>Results are illustrative and educational</a:t>
            </a:r>
          </a:p>
          <a:p>
            <a:pPr marL="285750" indent="-285750">
              <a:buSzPct val="100000"/>
              <a:buFont typeface="Wingdings" panose="05000000000000000000" pitchFamily="2" charset="2"/>
              <a:buChar char="ü"/>
            </a:pPr>
            <a:endParaRPr lang="en-US" dirty="0"/>
          </a:p>
          <a:p>
            <a:pPr marL="285750" indent="-285750">
              <a:buSzPct val="100000"/>
              <a:buFont typeface="Wingdings" panose="05000000000000000000" pitchFamily="2" charset="2"/>
              <a:buChar char="ü"/>
            </a:pPr>
            <a:r>
              <a:rPr lang="en-US" dirty="0"/>
              <a:t>Small-scale experiment with limited data and models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02920" y="5852159"/>
            <a:ext cx="11185855" cy="372848"/>
          </a:xfrm>
          <a:prstGeom prst="rect">
            <a:avLst/>
          </a:prstGeom>
          <a:solidFill>
            <a:srgbClr val="0B1F3B">
              <a:alpha val="92000"/>
            </a:srgbClr>
          </a:solidFill>
          <a:ln w="12700">
            <a:solidFill>
              <a:srgbClr val="0B1F3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61573" y="5897881"/>
            <a:ext cx="5668547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b="1" dirty="0">
                <a:solidFill>
                  <a:schemeClr val="bg1"/>
                </a:solidFill>
              </a:rPr>
              <a:t>Interpretability results should be interpreted with caution</a:t>
            </a:r>
            <a:endParaRPr lang="en-US" sz="1600" b="1" dirty="0">
              <a:solidFill>
                <a:schemeClr val="bg1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71A6504-2278-4F45-570A-1B9ED4C418F7}"/>
              </a:ext>
            </a:extLst>
          </p:cNvPr>
          <p:cNvSpPr txBox="1"/>
          <p:nvPr/>
        </p:nvSpPr>
        <p:spPr>
          <a:xfrm>
            <a:off x="6578059" y="75924"/>
            <a:ext cx="511071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en-US" sz="2000" b="1" dirty="0">
                <a:solidFill>
                  <a:schemeClr val="bg1"/>
                </a:solidFill>
              </a:rPr>
              <a:t>Why This Prototype Is Valid for the Course  (16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5697E6B-F735-4CCC-8F9D-327E9C88E30C}"/>
              </a:ext>
            </a:extLst>
          </p:cNvPr>
          <p:cNvSpPr txBox="1"/>
          <p:nvPr/>
        </p:nvSpPr>
        <p:spPr>
          <a:xfrm>
            <a:off x="6315740" y="1611541"/>
            <a:ext cx="4976037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r" rtl="1">
              <a:buFont typeface="Wingdings" panose="05000000000000000000" pitchFamily="2" charset="2"/>
              <a:buChar char="ü"/>
            </a:pPr>
            <a:r>
              <a:rPr lang="en-US" dirty="0"/>
              <a:t>The reference paper is a survey, not an experimental benchmark</a:t>
            </a:r>
          </a:p>
          <a:p>
            <a:pPr marL="285750" indent="-285750" algn="r" rtl="1">
              <a:buFont typeface="Wingdings" panose="05000000000000000000" pitchFamily="2" charset="2"/>
              <a:buChar char="ü"/>
            </a:pPr>
            <a:r>
              <a:rPr lang="en-US" dirty="0"/>
              <a:t>The prototype directly implements core methods identified in the survey</a:t>
            </a:r>
          </a:p>
          <a:p>
            <a:pPr marL="285750" indent="-285750" algn="r" rtl="1">
              <a:buFont typeface="Wingdings" panose="05000000000000000000" pitchFamily="2" charset="2"/>
              <a:buChar char="ü"/>
            </a:pPr>
            <a:r>
              <a:rPr lang="en-US" dirty="0"/>
              <a:t>Demonstrates practical feasibility of interpretability techniques</a:t>
            </a:r>
          </a:p>
          <a:p>
            <a:pPr marL="285750" indent="-285750" algn="r" rtl="1">
              <a:buFont typeface="Wingdings" panose="05000000000000000000" pitchFamily="2" charset="2"/>
              <a:buChar char="ü"/>
            </a:pPr>
            <a:r>
              <a:rPr lang="en-US" dirty="0"/>
              <a:t>Fully reproducible and aligned with course requirements</a:t>
            </a:r>
            <a:br>
              <a:rPr lang="en-US" dirty="0"/>
            </a:br>
            <a:endParaRPr 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831894A-20A5-DBFA-E850-8A0EAFC42920}"/>
              </a:ext>
            </a:extLst>
          </p:cNvPr>
          <p:cNvSpPr txBox="1"/>
          <p:nvPr/>
        </p:nvSpPr>
        <p:spPr>
          <a:xfrm>
            <a:off x="9881190" y="805083"/>
            <a:ext cx="14105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Justification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076B4CF-44DD-ECAF-94C7-669F112E18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DE9B8FA0-975F-7589-409B-90D9873FB92F}"/>
              </a:ext>
            </a:extLst>
          </p:cNvPr>
          <p:cNvSpPr/>
          <p:nvPr/>
        </p:nvSpPr>
        <p:spPr>
          <a:xfrm>
            <a:off x="0" y="0"/>
            <a:ext cx="12191999" cy="566928"/>
          </a:xfrm>
          <a:prstGeom prst="rect">
            <a:avLst/>
          </a:prstGeom>
          <a:solidFill>
            <a:srgbClr val="0B1F3B"/>
          </a:solidFill>
          <a:ln w="12700">
            <a:solidFill>
              <a:srgbClr val="0B1F3B"/>
            </a:solidFill>
            <a:prstDash val="solid"/>
          </a:ln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1F032E5F-46E9-5C22-8881-5214AFEEFD3A}"/>
              </a:ext>
            </a:extLst>
          </p:cNvPr>
          <p:cNvSpPr/>
          <p:nvPr/>
        </p:nvSpPr>
        <p:spPr>
          <a:xfrm>
            <a:off x="502921" y="128016"/>
            <a:ext cx="288532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0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17)</a:t>
            </a:r>
            <a:r>
              <a:rPr lang="en-US" b="1" dirty="0">
                <a:solidFill>
                  <a:schemeClr val="bg1"/>
                </a:solidFill>
              </a:rPr>
              <a:t> </a:t>
            </a:r>
            <a:r>
              <a:rPr lang="en-US" sz="2000" b="1" dirty="0">
                <a:solidFill>
                  <a:schemeClr val="bg1"/>
                </a:solidFill>
              </a:rPr>
              <a:t>Takeaways</a:t>
            </a: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A6D4F8CF-247C-6C47-19C0-5563074BAFAC}"/>
              </a:ext>
            </a:extLst>
          </p:cNvPr>
          <p:cNvSpPr/>
          <p:nvPr/>
        </p:nvSpPr>
        <p:spPr>
          <a:xfrm>
            <a:off x="502920" y="6355080"/>
            <a:ext cx="1118585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3C196B7D-E079-9569-51C5-48350048A91F}"/>
              </a:ext>
            </a:extLst>
          </p:cNvPr>
          <p:cNvSpPr/>
          <p:nvPr/>
        </p:nvSpPr>
        <p:spPr>
          <a:xfrm>
            <a:off x="502920" y="644652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18 / 19</a:t>
            </a:r>
            <a:endParaRPr lang="en-US" sz="11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8B057608-4E45-CF7A-D085-3C7A4CD5E5FA}"/>
              </a:ext>
            </a:extLst>
          </p:cNvPr>
          <p:cNvSpPr/>
          <p:nvPr/>
        </p:nvSpPr>
        <p:spPr>
          <a:xfrm>
            <a:off x="8671255" y="644652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Survey + Prototype-ready deck</a:t>
            </a:r>
            <a:endParaRPr lang="en-US" sz="1100" dirty="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0FDA6FF4-B005-D988-9E74-6811DCAFB551}"/>
              </a:ext>
            </a:extLst>
          </p:cNvPr>
          <p:cNvSpPr/>
          <p:nvPr/>
        </p:nvSpPr>
        <p:spPr>
          <a:xfrm>
            <a:off x="502920" y="1188720"/>
            <a:ext cx="11185855" cy="42267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2540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E124FDB9-A4C9-22B5-9E35-EFF46E844FAD}"/>
              </a:ext>
            </a:extLst>
          </p:cNvPr>
          <p:cNvSpPr/>
          <p:nvPr/>
        </p:nvSpPr>
        <p:spPr>
          <a:xfrm>
            <a:off x="777240" y="1597364"/>
            <a:ext cx="4298743" cy="376144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85750" indent="-285750">
              <a:buSzPct val="100000"/>
              <a:buFont typeface="Wingdings" panose="05000000000000000000" pitchFamily="2" charset="2"/>
              <a:buChar char="ü"/>
            </a:pPr>
            <a:r>
              <a:rPr lang="en-US" sz="2000" dirty="0"/>
              <a:t>Transformer-based PLMs encode linguistic information internally</a:t>
            </a:r>
          </a:p>
          <a:p>
            <a:pPr marL="285750" indent="-285750">
              <a:buSzPct val="100000"/>
              <a:buFont typeface="Wingdings" panose="05000000000000000000" pitchFamily="2" charset="2"/>
              <a:buChar char="ü"/>
            </a:pPr>
            <a:endParaRPr lang="en-US" dirty="0"/>
          </a:p>
          <a:p>
            <a:pPr marL="285750" indent="-285750">
              <a:buSzPct val="100000"/>
              <a:buFont typeface="Wingdings" panose="05000000000000000000" pitchFamily="2" charset="2"/>
              <a:buChar char="ü"/>
            </a:pPr>
            <a:r>
              <a:rPr lang="en-US" sz="2000" dirty="0"/>
              <a:t>Probing is a practical and widely used interpretability method</a:t>
            </a:r>
          </a:p>
          <a:p>
            <a:pPr marL="285750" indent="-285750">
              <a:buSzPct val="100000"/>
              <a:buFont typeface="Wingdings" panose="05000000000000000000" pitchFamily="2" charset="2"/>
              <a:buChar char="ü"/>
            </a:pPr>
            <a:endParaRPr lang="en-US" dirty="0"/>
          </a:p>
          <a:p>
            <a:pPr marL="285750" indent="-285750">
              <a:buSzPct val="100000"/>
              <a:buFont typeface="Wingdings" panose="05000000000000000000" pitchFamily="2" charset="2"/>
              <a:buChar char="ü"/>
            </a:pPr>
            <a:r>
              <a:rPr lang="en-US" sz="2000" dirty="0"/>
              <a:t>Linguistic knowledge varies across layers and models</a:t>
            </a:r>
          </a:p>
          <a:p>
            <a:pPr marL="285750" indent="-285750">
              <a:buSzPct val="100000"/>
              <a:buFont typeface="Wingdings" panose="05000000000000000000" pitchFamily="2" charset="2"/>
              <a:buChar char="ü"/>
            </a:pPr>
            <a:endParaRPr lang="en-US" dirty="0"/>
          </a:p>
          <a:p>
            <a:pPr marL="285750" indent="-285750">
              <a:buSzPct val="100000"/>
              <a:buFont typeface="Wingdings" panose="05000000000000000000" pitchFamily="2" charset="2"/>
              <a:buChar char="ü"/>
            </a:pPr>
            <a:r>
              <a:rPr lang="en-US" sz="2000" dirty="0"/>
              <a:t>Small, well-designed prototypes are sufficient for educational analysis</a:t>
            </a:r>
            <a:endParaRPr lang="en-US" sz="16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59EF5B4-A046-8338-5D8C-B351E260C776}"/>
              </a:ext>
            </a:extLst>
          </p:cNvPr>
          <p:cNvSpPr txBox="1"/>
          <p:nvPr/>
        </p:nvSpPr>
        <p:spPr>
          <a:xfrm>
            <a:off x="6578059" y="75924"/>
            <a:ext cx="511071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en-US" sz="2000" dirty="0">
                <a:solidFill>
                  <a:schemeClr val="bg1"/>
                </a:solidFill>
              </a:rPr>
              <a:t>Prepared Answers </a:t>
            </a:r>
            <a:r>
              <a:rPr lang="en-US" sz="2000" b="1" dirty="0">
                <a:solidFill>
                  <a:schemeClr val="bg1"/>
                </a:solidFill>
              </a:rPr>
              <a:t>(18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B55C4CD-36C1-91A4-B5F6-D1F2BD029A3D}"/>
              </a:ext>
            </a:extLst>
          </p:cNvPr>
          <p:cNvSpPr txBox="1"/>
          <p:nvPr/>
        </p:nvSpPr>
        <p:spPr>
          <a:xfrm>
            <a:off x="6438723" y="1597364"/>
            <a:ext cx="4976037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r" rtl="1">
              <a:buFont typeface="Wingdings" panose="05000000000000000000" pitchFamily="2" charset="2"/>
              <a:buChar char="ü"/>
            </a:pPr>
            <a:r>
              <a:rPr lang="en-US" dirty="0"/>
              <a:t>Why probing?→ Because it is the most common and practical method identified in the survey.</a:t>
            </a:r>
          </a:p>
          <a:p>
            <a:pPr marL="285750" indent="-285750" algn="r" rtl="1">
              <a:buFont typeface="Wingdings" panose="05000000000000000000" pitchFamily="2" charset="2"/>
              <a:buChar char="ü"/>
            </a:pPr>
            <a:endParaRPr lang="en-US" dirty="0"/>
          </a:p>
          <a:p>
            <a:pPr marL="285750" indent="-285750" algn="r" rtl="1">
              <a:buFont typeface="Wingdings" panose="05000000000000000000" pitchFamily="2" charset="2"/>
              <a:buChar char="ü"/>
            </a:pPr>
            <a:endParaRPr lang="en-US" dirty="0"/>
          </a:p>
          <a:p>
            <a:pPr marL="285750" indent="-285750" algn="r" rtl="1">
              <a:buFont typeface="Wingdings" panose="05000000000000000000" pitchFamily="2" charset="2"/>
              <a:buChar char="ü"/>
            </a:pPr>
            <a:r>
              <a:rPr lang="en-US" dirty="0"/>
              <a:t>Does extraction mean usage?→ No. Extractability does not imply causal reliance.</a:t>
            </a:r>
          </a:p>
          <a:p>
            <a:pPr marL="285750" indent="-285750" algn="r" rtl="1">
              <a:buFont typeface="Wingdings" panose="05000000000000000000" pitchFamily="2" charset="2"/>
              <a:buChar char="ü"/>
            </a:pPr>
            <a:endParaRPr lang="en-US" dirty="0"/>
          </a:p>
          <a:p>
            <a:pPr marL="285750" indent="-285750" algn="r" rtl="1">
              <a:buFont typeface="Wingdings" panose="05000000000000000000" pitchFamily="2" charset="2"/>
              <a:buChar char="ü"/>
            </a:pPr>
            <a:endParaRPr lang="en-US" dirty="0"/>
          </a:p>
          <a:p>
            <a:pPr marL="285750" indent="-285750" algn="r" rtl="1">
              <a:buFont typeface="Wingdings" panose="05000000000000000000" pitchFamily="2" charset="2"/>
              <a:buChar char="ü"/>
            </a:pPr>
            <a:r>
              <a:rPr lang="en-US" dirty="0"/>
              <a:t>Why BERT?→ Open architecture, lower computational cost, and widespread use in interpretability studies.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2E88A2C-1BFA-E0CE-076E-3F82E80428C9}"/>
              </a:ext>
            </a:extLst>
          </p:cNvPr>
          <p:cNvSpPr txBox="1"/>
          <p:nvPr/>
        </p:nvSpPr>
        <p:spPr>
          <a:xfrm>
            <a:off x="1105785" y="805083"/>
            <a:ext cx="191386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Final Takeaways</a:t>
            </a:r>
            <a:br>
              <a:rPr lang="en-US" b="1" dirty="0"/>
            </a:b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49465723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F3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D944D0B-6755-FFDC-FE40-EA3C5B6DC6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79360B01-F7CD-15E1-B480-CEAC26974D23}"/>
              </a:ext>
            </a:extLst>
          </p:cNvPr>
          <p:cNvSpPr/>
          <p:nvPr/>
        </p:nvSpPr>
        <p:spPr>
          <a:xfrm>
            <a:off x="3579297" y="570437"/>
            <a:ext cx="5033099" cy="132552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end</a:t>
            </a:r>
            <a:endParaRPr lang="en-US" sz="11500" b="1" i="1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EDAB6EC9-1AC4-B567-C661-09D89253BE10}"/>
              </a:ext>
            </a:extLst>
          </p:cNvPr>
          <p:cNvSpPr/>
          <p:nvPr/>
        </p:nvSpPr>
        <p:spPr>
          <a:xfrm>
            <a:off x="502920" y="2581053"/>
            <a:ext cx="11185855" cy="3429000"/>
          </a:xfrm>
          <a:prstGeom prst="rect">
            <a:avLst/>
          </a:prstGeom>
          <a:solidFill>
            <a:srgbClr val="0F2D54">
              <a:alpha val="90000"/>
            </a:srgbClr>
          </a:solidFill>
          <a:ln w="12700">
            <a:solidFill>
              <a:srgbClr val="274B7A"/>
            </a:solidFill>
            <a:prstDash val="solid"/>
          </a:ln>
          <a:effectLst>
            <a:outerShdw blurRad="38100" dist="1905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C630E72E-6D1E-051F-37E2-C1D28F5EFF18}"/>
              </a:ext>
            </a:extLst>
          </p:cNvPr>
          <p:cNvSpPr/>
          <p:nvPr/>
        </p:nvSpPr>
        <p:spPr>
          <a:xfrm>
            <a:off x="1445874" y="3816556"/>
            <a:ext cx="9299944" cy="95799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6000" b="1" i="1" dirty="0">
                <a:solidFill>
                  <a:schemeClr val="bg1"/>
                </a:solidFill>
              </a:rPr>
              <a:t>Thank you for your attention</a:t>
            </a:r>
          </a:p>
        </p:txBody>
      </p:sp>
    </p:spTree>
    <p:extLst>
      <p:ext uri="{BB962C8B-B14F-4D97-AF65-F5344CB8AC3E}">
        <p14:creationId xmlns:p14="http://schemas.microsoft.com/office/powerpoint/2010/main" val="9817524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145</TotalTime>
  <Words>2966</Words>
  <Application>Microsoft Office PowerPoint</Application>
  <PresentationFormat>Widescreen</PresentationFormat>
  <Paragraphs>367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Arial</vt:lpstr>
      <vt:lpstr>Calibri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Neo (MSc AI)</dc:creator>
  <cp:lastModifiedBy>ALI</cp:lastModifiedBy>
  <cp:revision>12</cp:revision>
  <dcterms:created xsi:type="dcterms:W3CDTF">2026-02-02T00:47:50Z</dcterms:created>
  <dcterms:modified xsi:type="dcterms:W3CDTF">2026-02-02T06:31:47Z</dcterms:modified>
</cp:coreProperties>
</file>