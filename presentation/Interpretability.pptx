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80" r:id="rId15"/>
    <p:sldId id="269" r:id="rId16"/>
    <p:sldId id="270" r:id="rId17"/>
    <p:sldId id="271" r:id="rId18"/>
    <p:sldId id="281" r:id="rId19"/>
    <p:sldId id="272" r:id="rId20"/>
    <p:sldId id="273" r:id="rId21"/>
    <p:sldId id="274" r:id="rId22"/>
    <p:sldId id="275" r:id="rId23"/>
    <p:sldId id="282" r:id="rId24"/>
    <p:sldId id="276" r:id="rId25"/>
    <p:sldId id="277" r:id="rId26"/>
    <p:sldId id="278" r:id="rId27"/>
    <p:sldId id="279" r:id="rId28"/>
    <p:sldId id="283"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6" autoAdjust="0"/>
    <p:restoredTop sz="94660"/>
  </p:normalViewPr>
  <p:slideViewPr>
    <p:cSldViewPr snapToGrid="0">
      <p:cViewPr varScale="1">
        <p:scale>
          <a:sx n="115" d="100"/>
          <a:sy n="115" d="100"/>
        </p:scale>
        <p:origin x="74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0" name="Group 9"/>
          <p:cNvGrpSpPr/>
          <p:nvPr/>
        </p:nvGrpSpPr>
        <p:grpSpPr>
          <a:xfrm>
            <a:off x="0" y="0"/>
            <a:ext cx="12188825" cy="6872226"/>
            <a:chOff x="0" y="0"/>
            <a:chExt cx="12188825" cy="6872226"/>
          </a:xfrm>
        </p:grpSpPr>
        <p:pic>
          <p:nvPicPr>
            <p:cNvPr id="9" name="Picture 8" descr="HD-PanelTitle-V.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673"/>
            <a:stretch/>
          </p:blipFill>
          <p:spPr>
            <a:xfrm rot="5400000">
              <a:off x="5245268" y="530352"/>
              <a:ext cx="1673352" cy="612648"/>
            </a:xfrm>
            <a:prstGeom prst="rect">
              <a:avLst/>
            </a:prstGeom>
          </p:spPr>
        </p:pic>
        <p:pic>
          <p:nvPicPr>
            <p:cNvPr id="18" name="Picture 17"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r="48819"/>
            <a:stretch/>
          </p:blipFill>
          <p:spPr>
            <a:xfrm rot="5400000">
              <a:off x="5263556" y="5747514"/>
              <a:ext cx="1636776"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2/1/2026</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BFA754-D5C3-4E66-96A6-867B257F58DC}" type="datetimeFigureOut">
              <a:rPr lang="en-US" dirty="0"/>
              <a:t>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2/1/2026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6"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4"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12188825" cy="6856215"/>
            <a:chOff x="0" y="0"/>
            <a:chExt cx="12188825" cy="6856215"/>
          </a:xfrm>
        </p:grpSpPr>
        <p:pic>
          <p:nvPicPr>
            <p:cNvPr id="8" name="Picture 7" descr="HD-PanelContent-V.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r="5093"/>
            <a:stretch/>
          </p:blipFill>
          <p:spPr>
            <a:xfrm rot="5400000">
              <a:off x="5706471" y="76265"/>
              <a:ext cx="758952"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r="5093"/>
            <a:stretch/>
          </p:blipFill>
          <p:spPr>
            <a:xfrm rot="5400000">
              <a:off x="5706470" y="6173526"/>
              <a:ext cx="758952"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2/1/2026</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F5A62-A01B-8D41-4ABB-BD13806BD7B1}"/>
              </a:ext>
            </a:extLst>
          </p:cNvPr>
          <p:cNvSpPr>
            <a:spLocks noGrp="1"/>
          </p:cNvSpPr>
          <p:nvPr>
            <p:ph type="ctrTitle"/>
          </p:nvPr>
        </p:nvSpPr>
        <p:spPr>
          <a:xfrm>
            <a:off x="2688165" y="1606062"/>
            <a:ext cx="6815669" cy="1938207"/>
          </a:xfrm>
        </p:spPr>
        <p:txBody>
          <a:bodyPr/>
          <a:lstStyle/>
          <a:p>
            <a:r>
              <a:rPr lang="en-US" b="1" i="1" dirty="0"/>
              <a:t>Interpretability</a:t>
            </a:r>
            <a:br>
              <a:rPr lang="en-US" sz="2400" b="1" i="1" dirty="0"/>
            </a:br>
            <a:br>
              <a:rPr lang="en-US" sz="2400" b="1" i="1" dirty="0"/>
            </a:br>
            <a:br>
              <a:rPr lang="en-US" sz="2400" b="1" i="1" dirty="0"/>
            </a:br>
            <a:r>
              <a:rPr lang="en-US" sz="2800" b="1" i="1" dirty="0"/>
              <a:t>Natural language processing</a:t>
            </a:r>
            <a:endParaRPr lang="en-US" b="1" i="1" dirty="0"/>
          </a:p>
        </p:txBody>
      </p:sp>
      <p:sp>
        <p:nvSpPr>
          <p:cNvPr id="3" name="Subtitle 2">
            <a:extLst>
              <a:ext uri="{FF2B5EF4-FFF2-40B4-BE49-F238E27FC236}">
                <a16:creationId xmlns:a16="http://schemas.microsoft.com/office/drawing/2014/main" id="{96DA356A-AF56-4516-C4F0-6B1FE8DF9322}"/>
              </a:ext>
            </a:extLst>
          </p:cNvPr>
          <p:cNvSpPr>
            <a:spLocks noGrp="1"/>
          </p:cNvSpPr>
          <p:nvPr>
            <p:ph type="subTitle" idx="1"/>
          </p:nvPr>
        </p:nvSpPr>
        <p:spPr/>
        <p:txBody>
          <a:bodyPr/>
          <a:lstStyle/>
          <a:p>
            <a:r>
              <a:rPr lang="en-US" dirty="0"/>
              <a:t>Student:   Ali </a:t>
            </a:r>
            <a:r>
              <a:rPr lang="en-US" dirty="0" err="1"/>
              <a:t>Dankoob</a:t>
            </a:r>
            <a:endParaRPr lang="en-US" dirty="0"/>
          </a:p>
          <a:p>
            <a:r>
              <a:rPr lang="en-US" dirty="0"/>
              <a:t>40407024</a:t>
            </a:r>
          </a:p>
        </p:txBody>
      </p:sp>
      <p:pic>
        <p:nvPicPr>
          <p:cNvPr id="7" name="Picture 6">
            <a:extLst>
              <a:ext uri="{FF2B5EF4-FFF2-40B4-BE49-F238E27FC236}">
                <a16:creationId xmlns:a16="http://schemas.microsoft.com/office/drawing/2014/main" id="{7A7396E3-96F5-DB20-915F-F48978E93D53}"/>
              </a:ext>
            </a:extLst>
          </p:cNvPr>
          <p:cNvPicPr>
            <a:picLocks noChangeAspect="1"/>
          </p:cNvPicPr>
          <p:nvPr/>
        </p:nvPicPr>
        <p:blipFill>
          <a:blip r:embed="rId2"/>
          <a:stretch>
            <a:fillRect/>
          </a:stretch>
        </p:blipFill>
        <p:spPr>
          <a:xfrm>
            <a:off x="5606980" y="544537"/>
            <a:ext cx="954594" cy="866556"/>
          </a:xfrm>
          <a:prstGeom prst="rect">
            <a:avLst/>
          </a:prstGeom>
        </p:spPr>
      </p:pic>
    </p:spTree>
    <p:extLst>
      <p:ext uri="{BB962C8B-B14F-4D97-AF65-F5344CB8AC3E}">
        <p14:creationId xmlns:p14="http://schemas.microsoft.com/office/powerpoint/2010/main" val="4094683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DDBE7-8F67-6D76-0486-9C36851A0CFC}"/>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3E64F47A-52C0-EC3A-1217-88E0C93F37D1}"/>
              </a:ext>
            </a:extLst>
          </p:cNvPr>
          <p:cNvPicPr>
            <a:picLocks noGrp="1" noChangeAspect="1"/>
          </p:cNvPicPr>
          <p:nvPr>
            <p:ph idx="1"/>
          </p:nvPr>
        </p:nvPicPr>
        <p:blipFill>
          <a:blip r:embed="rId2"/>
          <a:stretch>
            <a:fillRect/>
          </a:stretch>
        </p:blipFill>
        <p:spPr>
          <a:xfrm>
            <a:off x="462224" y="446188"/>
            <a:ext cx="11254153" cy="5954611"/>
          </a:xfrm>
        </p:spPr>
      </p:pic>
      <p:sp>
        <p:nvSpPr>
          <p:cNvPr id="6" name="Arrow: Right 5">
            <a:extLst>
              <a:ext uri="{FF2B5EF4-FFF2-40B4-BE49-F238E27FC236}">
                <a16:creationId xmlns:a16="http://schemas.microsoft.com/office/drawing/2014/main" id="{5CBF9529-8EA0-9173-AE15-069418AE5639}"/>
              </a:ext>
            </a:extLst>
          </p:cNvPr>
          <p:cNvSpPr/>
          <p:nvPr/>
        </p:nvSpPr>
        <p:spPr>
          <a:xfrm>
            <a:off x="0" y="3429000"/>
            <a:ext cx="475623" cy="409470"/>
          </a:xfrm>
          <a:prstGeom prst="rightArrow">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328077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B14FB-9DEE-4B62-8D3D-1DF7F71E1614}"/>
              </a:ext>
            </a:extLst>
          </p:cNvPr>
          <p:cNvSpPr>
            <a:spLocks noGrp="1"/>
          </p:cNvSpPr>
          <p:nvPr>
            <p:ph type="title"/>
          </p:nvPr>
        </p:nvSpPr>
        <p:spPr>
          <a:xfrm>
            <a:off x="1295402" y="982132"/>
            <a:ext cx="3698629" cy="1303867"/>
          </a:xfrm>
        </p:spPr>
        <p:txBody>
          <a:bodyPr>
            <a:normAutofit fontScale="90000"/>
          </a:bodyPr>
          <a:lstStyle/>
          <a:p>
            <a:r>
              <a:rPr lang="en-US" sz="5400" b="1" i="1" dirty="0"/>
              <a:t>Introduction</a:t>
            </a:r>
          </a:p>
        </p:txBody>
      </p:sp>
      <p:sp>
        <p:nvSpPr>
          <p:cNvPr id="3" name="Content Placeholder 2">
            <a:extLst>
              <a:ext uri="{FF2B5EF4-FFF2-40B4-BE49-F238E27FC236}">
                <a16:creationId xmlns:a16="http://schemas.microsoft.com/office/drawing/2014/main" id="{F7E153D0-CA5F-18BD-93F2-8754B735A404}"/>
              </a:ext>
            </a:extLst>
          </p:cNvPr>
          <p:cNvSpPr>
            <a:spLocks noGrp="1"/>
          </p:cNvSpPr>
          <p:nvPr>
            <p:ph idx="1"/>
          </p:nvPr>
        </p:nvSpPr>
        <p:spPr/>
        <p:txBody>
          <a:bodyPr>
            <a:normAutofit fontScale="62500" lnSpcReduction="20000"/>
          </a:bodyPr>
          <a:lstStyle/>
          <a:p>
            <a:r>
              <a:rPr lang="en-US" dirty="0">
                <a:latin typeface="Simplified Arabic" panose="02020603050405020304" pitchFamily="18" charset="-78"/>
                <a:cs typeface="Simplified Arabic" panose="02020603050405020304" pitchFamily="18" charset="-78"/>
              </a:rPr>
              <a:t>Linguistic Interpretability of Transformer-based Language Models</a:t>
            </a:r>
          </a:p>
          <a:p>
            <a:r>
              <a:rPr lang="en-US" dirty="0">
                <a:latin typeface="Simplified Arabic" panose="02020603050405020304" pitchFamily="18" charset="-78"/>
                <a:cs typeface="Simplified Arabic" panose="02020603050405020304" pitchFamily="18" charset="-78"/>
              </a:rPr>
              <a:t>Graduate Course: Natural Language Processing</a:t>
            </a:r>
          </a:p>
          <a:p>
            <a:endParaRPr lang="en-US" dirty="0">
              <a:latin typeface="Simplified Arabic" panose="02020603050405020304" pitchFamily="18" charset="-78"/>
              <a:cs typeface="Simplified Arabic" panose="02020603050405020304" pitchFamily="18" charset="-78"/>
            </a:endParaRPr>
          </a:p>
          <a:p>
            <a:r>
              <a:rPr lang="en-US" dirty="0">
                <a:latin typeface="Simplified Arabic" panose="02020603050405020304" pitchFamily="18" charset="-78"/>
                <a:cs typeface="Simplified Arabic" panose="02020603050405020304" pitchFamily="18" charset="-78"/>
              </a:rPr>
              <a:t>Transformer-based language models such as BERT, GPT, and T5 have become the dominant paradigm in modern NLP</a:t>
            </a:r>
          </a:p>
          <a:p>
            <a:endParaRPr lang="en-US" dirty="0">
              <a:latin typeface="Simplified Arabic" panose="02020603050405020304" pitchFamily="18" charset="-78"/>
              <a:cs typeface="Simplified Arabic" panose="02020603050405020304" pitchFamily="18" charset="-78"/>
            </a:endParaRPr>
          </a:p>
          <a:p>
            <a:r>
              <a:rPr lang="en-US" dirty="0">
                <a:latin typeface="Simplified Arabic" panose="02020603050405020304" pitchFamily="18" charset="-78"/>
                <a:cs typeface="Simplified Arabic" panose="02020603050405020304" pitchFamily="18" charset="-78"/>
              </a:rPr>
              <a:t>Despite their strong empirical performance, their internal decision-making mechanisms remain largely opaque</a:t>
            </a:r>
          </a:p>
          <a:p>
            <a:endParaRPr lang="en-US" dirty="0">
              <a:latin typeface="Simplified Arabic" panose="02020603050405020304" pitchFamily="18" charset="-78"/>
              <a:cs typeface="Simplified Arabic" panose="02020603050405020304" pitchFamily="18" charset="-78"/>
            </a:endParaRPr>
          </a:p>
          <a:p>
            <a:r>
              <a:rPr lang="en-US" dirty="0">
                <a:latin typeface="Simplified Arabic" panose="02020603050405020304" pitchFamily="18" charset="-78"/>
                <a:cs typeface="Simplified Arabic" panose="02020603050405020304" pitchFamily="18" charset="-78"/>
              </a:rPr>
              <a:t>This presentation focuses on understanding how linguistic knowledge is represented and utilized inside these models</a:t>
            </a:r>
          </a:p>
          <a:p>
            <a:endParaRPr lang="en-US" dirty="0">
              <a:latin typeface="Simplified Arabic" panose="02020603050405020304" pitchFamily="18" charset="-78"/>
              <a:cs typeface="Simplified Arabic" panose="02020603050405020304" pitchFamily="18" charset="-78"/>
            </a:endParaRPr>
          </a:p>
          <a:p>
            <a:r>
              <a:rPr lang="en-US" dirty="0">
                <a:latin typeface="Simplified Arabic" panose="02020603050405020304" pitchFamily="18" charset="-78"/>
                <a:cs typeface="Simplified Arabic" panose="02020603050405020304" pitchFamily="18" charset="-78"/>
              </a:rPr>
              <a:t>The project is conducted in the context of interpretability and explainable artificial intelligence (XAI)</a:t>
            </a:r>
          </a:p>
        </p:txBody>
      </p:sp>
    </p:spTree>
    <p:extLst>
      <p:ext uri="{BB962C8B-B14F-4D97-AF65-F5344CB8AC3E}">
        <p14:creationId xmlns:p14="http://schemas.microsoft.com/office/powerpoint/2010/main" val="19227082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796FF-8E28-E5CC-BA72-93B72F81845B}"/>
              </a:ext>
            </a:extLst>
          </p:cNvPr>
          <p:cNvSpPr>
            <a:spLocks noGrp="1"/>
          </p:cNvSpPr>
          <p:nvPr>
            <p:ph type="title"/>
          </p:nvPr>
        </p:nvSpPr>
        <p:spPr/>
        <p:txBody>
          <a:bodyPr/>
          <a:lstStyle/>
          <a:p>
            <a:r>
              <a:rPr lang="en-US" dirty="0"/>
              <a:t>Background and Motivation</a:t>
            </a:r>
          </a:p>
        </p:txBody>
      </p:sp>
      <p:sp>
        <p:nvSpPr>
          <p:cNvPr id="3" name="Content Placeholder 2">
            <a:extLst>
              <a:ext uri="{FF2B5EF4-FFF2-40B4-BE49-F238E27FC236}">
                <a16:creationId xmlns:a16="http://schemas.microsoft.com/office/drawing/2014/main" id="{75E6CF4C-B8DF-9C7A-3C5F-CE16963CB54D}"/>
              </a:ext>
            </a:extLst>
          </p:cNvPr>
          <p:cNvSpPr>
            <a:spLocks noGrp="1"/>
          </p:cNvSpPr>
          <p:nvPr>
            <p:ph idx="1"/>
          </p:nvPr>
        </p:nvSpPr>
        <p:spPr/>
        <p:txBody>
          <a:bodyPr>
            <a:normAutofit fontScale="70000" lnSpcReduction="20000"/>
          </a:bodyPr>
          <a:lstStyle/>
          <a:p>
            <a:r>
              <a:rPr lang="en-US" dirty="0">
                <a:latin typeface="Simplified Arabic" panose="02020603050405020304" pitchFamily="18" charset="-78"/>
                <a:cs typeface="Simplified Arabic" panose="02020603050405020304" pitchFamily="18" charset="-78"/>
              </a:rPr>
              <a:t>Natural Language Processing has evolved from rule-based and statistical models to deep neural architectures</a:t>
            </a:r>
          </a:p>
          <a:p>
            <a:endParaRPr lang="en-US" dirty="0">
              <a:latin typeface="Simplified Arabic" panose="02020603050405020304" pitchFamily="18" charset="-78"/>
              <a:cs typeface="Simplified Arabic" panose="02020603050405020304" pitchFamily="18" charset="-78"/>
            </a:endParaRPr>
          </a:p>
          <a:p>
            <a:r>
              <a:rPr lang="en-US" dirty="0">
                <a:latin typeface="Simplified Arabic" panose="02020603050405020304" pitchFamily="18" charset="-78"/>
                <a:cs typeface="Simplified Arabic" panose="02020603050405020304" pitchFamily="18" charset="-78"/>
              </a:rPr>
              <a:t>Transformers introduced self-attention, enabling effective modeling of long-range dependencies</a:t>
            </a:r>
          </a:p>
          <a:p>
            <a:endParaRPr lang="en-US" dirty="0">
              <a:latin typeface="Simplified Arabic" panose="02020603050405020304" pitchFamily="18" charset="-78"/>
              <a:cs typeface="Simplified Arabic" panose="02020603050405020304" pitchFamily="18" charset="-78"/>
            </a:endParaRPr>
          </a:p>
          <a:p>
            <a:r>
              <a:rPr lang="en-US" dirty="0">
                <a:latin typeface="Simplified Arabic" panose="02020603050405020304" pitchFamily="18" charset="-78"/>
                <a:cs typeface="Simplified Arabic" panose="02020603050405020304" pitchFamily="18" charset="-78"/>
              </a:rPr>
              <a:t>This architectural shift significantly improved performance across NLP tasks</a:t>
            </a:r>
          </a:p>
          <a:p>
            <a:endParaRPr lang="en-US" dirty="0">
              <a:latin typeface="Simplified Arabic" panose="02020603050405020304" pitchFamily="18" charset="-78"/>
              <a:cs typeface="Simplified Arabic" panose="02020603050405020304" pitchFamily="18" charset="-78"/>
            </a:endParaRPr>
          </a:p>
          <a:p>
            <a:r>
              <a:rPr lang="en-US" dirty="0">
                <a:latin typeface="Simplified Arabic" panose="02020603050405020304" pitchFamily="18" charset="-78"/>
                <a:cs typeface="Simplified Arabic" panose="02020603050405020304" pitchFamily="18" charset="-78"/>
              </a:rPr>
              <a:t>However, it also increased model complexity and reduced transparency</a:t>
            </a:r>
          </a:p>
          <a:p>
            <a:endParaRPr lang="en-US" dirty="0">
              <a:latin typeface="Simplified Arabic" panose="02020603050405020304" pitchFamily="18" charset="-78"/>
              <a:cs typeface="Simplified Arabic" panose="02020603050405020304" pitchFamily="18" charset="-78"/>
            </a:endParaRPr>
          </a:p>
          <a:p>
            <a:r>
              <a:rPr lang="en-US" dirty="0">
                <a:latin typeface="Simplified Arabic" panose="02020603050405020304" pitchFamily="18" charset="-78"/>
                <a:cs typeface="Simplified Arabic" panose="02020603050405020304" pitchFamily="18" charset="-78"/>
              </a:rPr>
              <a:t>As models grow larger, understanding their internal behavior becomes increasingly critical</a:t>
            </a:r>
          </a:p>
          <a:p>
            <a:endParaRPr lang="en-US" dirty="0">
              <a:latin typeface="Simplified Arabic" panose="02020603050405020304" pitchFamily="18" charset="-78"/>
              <a:cs typeface="Simplified Arabic" panose="02020603050405020304" pitchFamily="18" charset="-78"/>
            </a:endParaRPr>
          </a:p>
        </p:txBody>
      </p:sp>
    </p:spTree>
    <p:extLst>
      <p:ext uri="{BB962C8B-B14F-4D97-AF65-F5344CB8AC3E}">
        <p14:creationId xmlns:p14="http://schemas.microsoft.com/office/powerpoint/2010/main" val="26134321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3C533-C259-FCC0-1095-1989AA79E397}"/>
              </a:ext>
            </a:extLst>
          </p:cNvPr>
          <p:cNvSpPr>
            <a:spLocks noGrp="1"/>
          </p:cNvSpPr>
          <p:nvPr>
            <p:ph type="title"/>
          </p:nvPr>
        </p:nvSpPr>
        <p:spPr>
          <a:xfrm>
            <a:off x="1295402" y="982132"/>
            <a:ext cx="4460629" cy="1303867"/>
          </a:xfrm>
        </p:spPr>
        <p:txBody>
          <a:bodyPr/>
          <a:lstStyle/>
          <a:p>
            <a:r>
              <a:rPr lang="en-US" dirty="0"/>
              <a:t>Problem Definition</a:t>
            </a:r>
          </a:p>
        </p:txBody>
      </p:sp>
      <p:sp>
        <p:nvSpPr>
          <p:cNvPr id="3" name="Content Placeholder 2">
            <a:extLst>
              <a:ext uri="{FF2B5EF4-FFF2-40B4-BE49-F238E27FC236}">
                <a16:creationId xmlns:a16="http://schemas.microsoft.com/office/drawing/2014/main" id="{B3203DCB-8EF2-A585-36D9-22F543754F54}"/>
              </a:ext>
            </a:extLst>
          </p:cNvPr>
          <p:cNvSpPr>
            <a:spLocks noGrp="1"/>
          </p:cNvSpPr>
          <p:nvPr>
            <p:ph idx="1"/>
          </p:nvPr>
        </p:nvSpPr>
        <p:spPr/>
        <p:txBody>
          <a:bodyPr>
            <a:normAutofit fontScale="70000" lnSpcReduction="20000"/>
          </a:bodyPr>
          <a:lstStyle/>
          <a:p>
            <a:r>
              <a:rPr lang="en-US" dirty="0">
                <a:latin typeface="Simplified Arabic" panose="02020603050405020304" pitchFamily="18" charset="-78"/>
                <a:cs typeface="Simplified Arabic" panose="02020603050405020304" pitchFamily="18" charset="-78"/>
              </a:rPr>
              <a:t>Linguistic interpretability studies how linguistic knowledge is encoded within transformer-based models</a:t>
            </a:r>
          </a:p>
          <a:p>
            <a:endParaRPr lang="en-US" dirty="0">
              <a:latin typeface="Simplified Arabic" panose="02020603050405020304" pitchFamily="18" charset="-78"/>
              <a:cs typeface="Simplified Arabic" panose="02020603050405020304" pitchFamily="18" charset="-78"/>
            </a:endParaRPr>
          </a:p>
          <a:p>
            <a:r>
              <a:rPr lang="en-US" dirty="0">
                <a:latin typeface="Simplified Arabic" panose="02020603050405020304" pitchFamily="18" charset="-78"/>
                <a:cs typeface="Simplified Arabic" panose="02020603050405020304" pitchFamily="18" charset="-78"/>
              </a:rPr>
              <a:t>It focuses on internal representations such as embeddings, layers, attention heads, and neurons</a:t>
            </a:r>
          </a:p>
          <a:p>
            <a:endParaRPr lang="en-US" dirty="0">
              <a:latin typeface="Simplified Arabic" panose="02020603050405020304" pitchFamily="18" charset="-78"/>
              <a:cs typeface="Simplified Arabic" panose="02020603050405020304" pitchFamily="18" charset="-78"/>
            </a:endParaRPr>
          </a:p>
          <a:p>
            <a:r>
              <a:rPr lang="en-US" dirty="0">
                <a:latin typeface="Simplified Arabic" panose="02020603050405020304" pitchFamily="18" charset="-78"/>
                <a:cs typeface="Simplified Arabic" panose="02020603050405020304" pitchFamily="18" charset="-78"/>
              </a:rPr>
              <a:t>The goal is to map abstract neural representations to human-understandable linguistic concepts</a:t>
            </a:r>
          </a:p>
          <a:p>
            <a:endParaRPr lang="en-US" dirty="0">
              <a:latin typeface="Simplified Arabic" panose="02020603050405020304" pitchFamily="18" charset="-78"/>
              <a:cs typeface="Simplified Arabic" panose="02020603050405020304" pitchFamily="18" charset="-78"/>
            </a:endParaRPr>
          </a:p>
          <a:p>
            <a:r>
              <a:rPr lang="en-US" dirty="0">
                <a:latin typeface="Simplified Arabic" panose="02020603050405020304" pitchFamily="18" charset="-78"/>
                <a:cs typeface="Simplified Arabic" panose="02020603050405020304" pitchFamily="18" charset="-78"/>
              </a:rPr>
              <a:t>Linguistic properties include syntax, semantics, morphology, and discourse-level information</a:t>
            </a:r>
          </a:p>
          <a:p>
            <a:endParaRPr lang="en-US" dirty="0">
              <a:latin typeface="Simplified Arabic" panose="02020603050405020304" pitchFamily="18" charset="-78"/>
              <a:cs typeface="Simplified Arabic" panose="02020603050405020304" pitchFamily="18" charset="-78"/>
            </a:endParaRPr>
          </a:p>
          <a:p>
            <a:r>
              <a:rPr lang="en-US" dirty="0">
                <a:latin typeface="Simplified Arabic" panose="02020603050405020304" pitchFamily="18" charset="-78"/>
                <a:cs typeface="Simplified Arabic" panose="02020603050405020304" pitchFamily="18" charset="-78"/>
              </a:rPr>
              <a:t>The problem addresses the gap between high performance and limited explainability</a:t>
            </a:r>
          </a:p>
        </p:txBody>
      </p:sp>
    </p:spTree>
    <p:extLst>
      <p:ext uri="{BB962C8B-B14F-4D97-AF65-F5344CB8AC3E}">
        <p14:creationId xmlns:p14="http://schemas.microsoft.com/office/powerpoint/2010/main" val="17223474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61B2D-0FC0-6707-D5EB-45EEF4955541}"/>
              </a:ext>
            </a:extLst>
          </p:cNvPr>
          <p:cNvSpPr>
            <a:spLocks noGrp="1"/>
          </p:cNvSpPr>
          <p:nvPr>
            <p:ph type="title"/>
          </p:nvPr>
        </p:nvSpPr>
        <p:spPr/>
        <p:txBody>
          <a:bodyPr/>
          <a:lstStyle/>
          <a:p>
            <a:r>
              <a:rPr lang="en-US" dirty="0"/>
              <a:t>Scope of the Problem</a:t>
            </a:r>
          </a:p>
        </p:txBody>
      </p:sp>
      <p:sp>
        <p:nvSpPr>
          <p:cNvPr id="3" name="Content Placeholder 2">
            <a:extLst>
              <a:ext uri="{FF2B5EF4-FFF2-40B4-BE49-F238E27FC236}">
                <a16:creationId xmlns:a16="http://schemas.microsoft.com/office/drawing/2014/main" id="{E9721DB8-EDE5-B815-D32B-884605EBD45B}"/>
              </a:ext>
            </a:extLst>
          </p:cNvPr>
          <p:cNvSpPr>
            <a:spLocks noGrp="1"/>
          </p:cNvSpPr>
          <p:nvPr>
            <p:ph idx="1"/>
          </p:nvPr>
        </p:nvSpPr>
        <p:spPr/>
        <p:txBody>
          <a:bodyPr>
            <a:normAutofit fontScale="70000" lnSpcReduction="20000"/>
          </a:bodyPr>
          <a:lstStyle/>
          <a:p>
            <a:r>
              <a:rPr lang="en-US" dirty="0">
                <a:latin typeface="Simplified Arabic" panose="02020603050405020304" pitchFamily="18" charset="-78"/>
                <a:cs typeface="Simplified Arabic" panose="02020603050405020304" pitchFamily="18" charset="-78"/>
              </a:rPr>
              <a:t>The scope goes beyond evaluating model outputs or accuracy metrics</a:t>
            </a:r>
          </a:p>
          <a:p>
            <a:endParaRPr lang="en-US" dirty="0">
              <a:latin typeface="Simplified Arabic" panose="02020603050405020304" pitchFamily="18" charset="-78"/>
              <a:cs typeface="Simplified Arabic" panose="02020603050405020304" pitchFamily="18" charset="-78"/>
            </a:endParaRPr>
          </a:p>
          <a:p>
            <a:r>
              <a:rPr lang="en-US" dirty="0">
                <a:latin typeface="Simplified Arabic" panose="02020603050405020304" pitchFamily="18" charset="-78"/>
                <a:cs typeface="Simplified Arabic" panose="02020603050405020304" pitchFamily="18" charset="-78"/>
              </a:rPr>
              <a:t>It investigates how language understanding emerges inside the model</a:t>
            </a:r>
          </a:p>
          <a:p>
            <a:endParaRPr lang="en-US" dirty="0">
              <a:latin typeface="Simplified Arabic" panose="02020603050405020304" pitchFamily="18" charset="-78"/>
              <a:cs typeface="Simplified Arabic" panose="02020603050405020304" pitchFamily="18" charset="-78"/>
            </a:endParaRPr>
          </a:p>
          <a:p>
            <a:r>
              <a:rPr lang="en-US" dirty="0">
                <a:latin typeface="Simplified Arabic" panose="02020603050405020304" pitchFamily="18" charset="-78"/>
                <a:cs typeface="Simplified Arabic" panose="02020603050405020304" pitchFamily="18" charset="-78"/>
              </a:rPr>
              <a:t>A key question is whether models truly learn linguistic structure or rely on statistical shortcuts</a:t>
            </a:r>
          </a:p>
          <a:p>
            <a:endParaRPr lang="en-US" dirty="0">
              <a:latin typeface="Simplified Arabic" panose="02020603050405020304" pitchFamily="18" charset="-78"/>
              <a:cs typeface="Simplified Arabic" panose="02020603050405020304" pitchFamily="18" charset="-78"/>
            </a:endParaRPr>
          </a:p>
          <a:p>
            <a:r>
              <a:rPr lang="en-US" dirty="0">
                <a:latin typeface="Simplified Arabic" panose="02020603050405020304" pitchFamily="18" charset="-78"/>
                <a:cs typeface="Simplified Arabic" panose="02020603050405020304" pitchFamily="18" charset="-78"/>
              </a:rPr>
              <a:t>Another concern is distinguishing stored linguistic knowledge from knowledge actually used in predictions</a:t>
            </a:r>
          </a:p>
          <a:p>
            <a:endParaRPr lang="en-US" dirty="0">
              <a:latin typeface="Simplified Arabic" panose="02020603050405020304" pitchFamily="18" charset="-78"/>
              <a:cs typeface="Simplified Arabic" panose="02020603050405020304" pitchFamily="18" charset="-78"/>
            </a:endParaRPr>
          </a:p>
          <a:p>
            <a:r>
              <a:rPr lang="en-US" dirty="0">
                <a:latin typeface="Simplified Arabic" panose="02020603050405020304" pitchFamily="18" charset="-78"/>
                <a:cs typeface="Simplified Arabic" panose="02020603050405020304" pitchFamily="18" charset="-78"/>
              </a:rPr>
              <a:t>This scope is relevant for both theoretical research and real-world deployment</a:t>
            </a:r>
          </a:p>
        </p:txBody>
      </p:sp>
    </p:spTree>
    <p:extLst>
      <p:ext uri="{BB962C8B-B14F-4D97-AF65-F5344CB8AC3E}">
        <p14:creationId xmlns:p14="http://schemas.microsoft.com/office/powerpoint/2010/main" val="13562130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953F7-7381-99E6-DA0E-A14B8D08C45C}"/>
              </a:ext>
            </a:extLst>
          </p:cNvPr>
          <p:cNvSpPr>
            <a:spLocks noGrp="1"/>
          </p:cNvSpPr>
          <p:nvPr>
            <p:ph type="title"/>
          </p:nvPr>
        </p:nvSpPr>
        <p:spPr/>
        <p:txBody>
          <a:bodyPr/>
          <a:lstStyle/>
          <a:p>
            <a:r>
              <a:rPr lang="en-US" dirty="0"/>
              <a:t>Model Interpretability</a:t>
            </a:r>
          </a:p>
        </p:txBody>
      </p:sp>
      <p:sp>
        <p:nvSpPr>
          <p:cNvPr id="3" name="Content Placeholder 2">
            <a:extLst>
              <a:ext uri="{FF2B5EF4-FFF2-40B4-BE49-F238E27FC236}">
                <a16:creationId xmlns:a16="http://schemas.microsoft.com/office/drawing/2014/main" id="{E6497C75-6296-2739-10CD-E14628621BD3}"/>
              </a:ext>
            </a:extLst>
          </p:cNvPr>
          <p:cNvSpPr>
            <a:spLocks noGrp="1"/>
          </p:cNvSpPr>
          <p:nvPr>
            <p:ph idx="1"/>
          </p:nvPr>
        </p:nvSpPr>
        <p:spPr/>
        <p:txBody>
          <a:bodyPr>
            <a:normAutofit fontScale="70000" lnSpcReduction="20000"/>
          </a:bodyPr>
          <a:lstStyle/>
          <a:p>
            <a:r>
              <a:rPr lang="en-US" dirty="0">
                <a:latin typeface="Simplified Arabic" panose="02020603050405020304" pitchFamily="18" charset="-78"/>
                <a:cs typeface="Simplified Arabic" panose="02020603050405020304" pitchFamily="18" charset="-78"/>
              </a:rPr>
              <a:t>Model interpretability refers to the ability to explain a model’s behavior in human terms</a:t>
            </a:r>
          </a:p>
          <a:p>
            <a:endParaRPr lang="en-US" dirty="0">
              <a:latin typeface="Simplified Arabic" panose="02020603050405020304" pitchFamily="18" charset="-78"/>
              <a:cs typeface="Simplified Arabic" panose="02020603050405020304" pitchFamily="18" charset="-78"/>
            </a:endParaRPr>
          </a:p>
          <a:p>
            <a:r>
              <a:rPr lang="en-US" dirty="0">
                <a:latin typeface="Simplified Arabic" panose="02020603050405020304" pitchFamily="18" charset="-78"/>
                <a:cs typeface="Simplified Arabic" panose="02020603050405020304" pitchFamily="18" charset="-78"/>
              </a:rPr>
              <a:t>It aims to answer why a specific output or prediction was generated</a:t>
            </a:r>
          </a:p>
          <a:p>
            <a:endParaRPr lang="en-US" dirty="0">
              <a:latin typeface="Simplified Arabic" panose="02020603050405020304" pitchFamily="18" charset="-78"/>
              <a:cs typeface="Simplified Arabic" panose="02020603050405020304" pitchFamily="18" charset="-78"/>
            </a:endParaRPr>
          </a:p>
          <a:p>
            <a:r>
              <a:rPr lang="en-US" dirty="0">
                <a:latin typeface="Simplified Arabic" panose="02020603050405020304" pitchFamily="18" charset="-78"/>
                <a:cs typeface="Simplified Arabic" panose="02020603050405020304" pitchFamily="18" charset="-78"/>
              </a:rPr>
              <a:t>Interpretability supports trust, transparency, and accountability</a:t>
            </a:r>
          </a:p>
          <a:p>
            <a:endParaRPr lang="en-US" dirty="0">
              <a:latin typeface="Simplified Arabic" panose="02020603050405020304" pitchFamily="18" charset="-78"/>
              <a:cs typeface="Simplified Arabic" panose="02020603050405020304" pitchFamily="18" charset="-78"/>
            </a:endParaRPr>
          </a:p>
          <a:p>
            <a:r>
              <a:rPr lang="en-US" dirty="0">
                <a:latin typeface="Simplified Arabic" panose="02020603050405020304" pitchFamily="18" charset="-78"/>
                <a:cs typeface="Simplified Arabic" panose="02020603050405020304" pitchFamily="18" charset="-78"/>
              </a:rPr>
              <a:t>In deep neural networks, interpretability is challenging due to non-linearity and high dimensionality</a:t>
            </a:r>
          </a:p>
          <a:p>
            <a:endParaRPr lang="en-US" dirty="0">
              <a:latin typeface="Simplified Arabic" panose="02020603050405020304" pitchFamily="18" charset="-78"/>
              <a:cs typeface="Simplified Arabic" panose="02020603050405020304" pitchFamily="18" charset="-78"/>
            </a:endParaRPr>
          </a:p>
          <a:p>
            <a:r>
              <a:rPr lang="en-US" dirty="0">
                <a:latin typeface="Simplified Arabic" panose="02020603050405020304" pitchFamily="18" charset="-78"/>
                <a:cs typeface="Simplified Arabic" panose="02020603050405020304" pitchFamily="18" charset="-78"/>
              </a:rPr>
              <a:t>Nevertheless, it is essential for debugging, validation, and responsible AI</a:t>
            </a:r>
          </a:p>
        </p:txBody>
      </p:sp>
    </p:spTree>
    <p:extLst>
      <p:ext uri="{BB962C8B-B14F-4D97-AF65-F5344CB8AC3E}">
        <p14:creationId xmlns:p14="http://schemas.microsoft.com/office/powerpoint/2010/main" val="824917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60A42-7880-800C-3B14-C813F560BE5C}"/>
              </a:ext>
            </a:extLst>
          </p:cNvPr>
          <p:cNvSpPr>
            <a:spLocks noGrp="1"/>
          </p:cNvSpPr>
          <p:nvPr>
            <p:ph type="title"/>
          </p:nvPr>
        </p:nvSpPr>
        <p:spPr/>
        <p:txBody>
          <a:bodyPr/>
          <a:lstStyle/>
          <a:p>
            <a:r>
              <a:rPr lang="en-US" dirty="0"/>
              <a:t>Importance of Linguistic Interpretability</a:t>
            </a:r>
          </a:p>
        </p:txBody>
      </p:sp>
      <p:sp>
        <p:nvSpPr>
          <p:cNvPr id="3" name="Content Placeholder 2">
            <a:extLst>
              <a:ext uri="{FF2B5EF4-FFF2-40B4-BE49-F238E27FC236}">
                <a16:creationId xmlns:a16="http://schemas.microsoft.com/office/drawing/2014/main" id="{BAD56A4E-B0ED-30DC-C0C6-03F6171F1EBC}"/>
              </a:ext>
            </a:extLst>
          </p:cNvPr>
          <p:cNvSpPr>
            <a:spLocks noGrp="1"/>
          </p:cNvSpPr>
          <p:nvPr>
            <p:ph idx="1"/>
          </p:nvPr>
        </p:nvSpPr>
        <p:spPr/>
        <p:txBody>
          <a:bodyPr>
            <a:noAutofit/>
          </a:bodyPr>
          <a:lstStyle/>
          <a:p>
            <a:r>
              <a:rPr lang="en-US" sz="2600" dirty="0">
                <a:latin typeface="Simplified Arabic" panose="02020603050405020304" pitchFamily="18" charset="-78"/>
                <a:cs typeface="Simplified Arabic" panose="02020603050405020304" pitchFamily="18" charset="-78"/>
              </a:rPr>
              <a:t>Linguistic interpretability is especially important because language models learn linguistic patterns implicitly, without explicit supervision or formal grammatical rules. Without interpretability, it is difficult to determine whether a model’s success is based on meaningful linguistic generalization or on exploiting spurious correlations in data. By revealing how linguistic structures are represented, interpretability helps identify biases, improve generalization, and ensure that models behave reliably in unseen or sensitive scenarios.</a:t>
            </a:r>
            <a:br>
              <a:rPr lang="en-US" sz="2600" dirty="0">
                <a:latin typeface="Simplified Arabic" panose="02020603050405020304" pitchFamily="18" charset="-78"/>
                <a:cs typeface="Simplified Arabic" panose="02020603050405020304" pitchFamily="18" charset="-78"/>
              </a:rPr>
            </a:br>
            <a:endParaRPr lang="en-US" sz="2600" dirty="0">
              <a:latin typeface="Simplified Arabic" panose="02020603050405020304" pitchFamily="18" charset="-78"/>
              <a:cs typeface="Simplified Arabic" panose="02020603050405020304" pitchFamily="18" charset="-78"/>
            </a:endParaRPr>
          </a:p>
        </p:txBody>
      </p:sp>
    </p:spTree>
    <p:extLst>
      <p:ext uri="{BB962C8B-B14F-4D97-AF65-F5344CB8AC3E}">
        <p14:creationId xmlns:p14="http://schemas.microsoft.com/office/powerpoint/2010/main" val="41224548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0A43E-3EB3-4DC6-5CFD-1BBD40DF5F63}"/>
              </a:ext>
            </a:extLst>
          </p:cNvPr>
          <p:cNvSpPr>
            <a:spLocks noGrp="1"/>
          </p:cNvSpPr>
          <p:nvPr>
            <p:ph type="title"/>
          </p:nvPr>
        </p:nvSpPr>
        <p:spPr/>
        <p:txBody>
          <a:bodyPr/>
          <a:lstStyle/>
          <a:p>
            <a:r>
              <a:rPr lang="en-US" dirty="0"/>
              <a:t>Real-world Relevance</a:t>
            </a:r>
          </a:p>
        </p:txBody>
      </p:sp>
      <p:sp>
        <p:nvSpPr>
          <p:cNvPr id="3" name="Content Placeholder 2">
            <a:extLst>
              <a:ext uri="{FF2B5EF4-FFF2-40B4-BE49-F238E27FC236}">
                <a16:creationId xmlns:a16="http://schemas.microsoft.com/office/drawing/2014/main" id="{AC0CE9C1-DE53-EE72-B714-2C29DF44B150}"/>
              </a:ext>
            </a:extLst>
          </p:cNvPr>
          <p:cNvSpPr>
            <a:spLocks noGrp="1"/>
          </p:cNvSpPr>
          <p:nvPr>
            <p:ph idx="1"/>
          </p:nvPr>
        </p:nvSpPr>
        <p:spPr/>
        <p:txBody>
          <a:bodyPr>
            <a:normAutofit/>
          </a:bodyPr>
          <a:lstStyle/>
          <a:p>
            <a:r>
              <a:rPr lang="en-US" sz="2600" dirty="0">
                <a:latin typeface="Simplified Arabic" panose="02020603050405020304" pitchFamily="18" charset="-78"/>
                <a:cs typeface="Simplified Arabic" panose="02020603050405020304" pitchFamily="18" charset="-78"/>
              </a:rPr>
              <a:t>In real-world applications, the need for interpretability is not merely theoretical. Content moderation systems must justify why certain texts are flagged or removed. Legal and medical NLP systems require transparent reasoning to support high-stakes decisions. Educational technologies also benefit from interpretable feedback that can be understood by learners. In all these domains, linguistic interpretability increases user trust and enables accountability.</a:t>
            </a:r>
          </a:p>
        </p:txBody>
      </p:sp>
    </p:spTree>
    <p:extLst>
      <p:ext uri="{BB962C8B-B14F-4D97-AF65-F5344CB8AC3E}">
        <p14:creationId xmlns:p14="http://schemas.microsoft.com/office/powerpoint/2010/main" val="19156512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8F638-6E51-32EB-47D6-02F9C5441FEA}"/>
              </a:ext>
            </a:extLst>
          </p:cNvPr>
          <p:cNvSpPr>
            <a:spLocks noGrp="1"/>
          </p:cNvSpPr>
          <p:nvPr>
            <p:ph type="title"/>
          </p:nvPr>
        </p:nvSpPr>
        <p:spPr/>
        <p:txBody>
          <a:bodyPr/>
          <a:lstStyle/>
          <a:p>
            <a:r>
              <a:rPr lang="en-US" dirty="0"/>
              <a:t>Position within NLP</a:t>
            </a:r>
          </a:p>
        </p:txBody>
      </p:sp>
      <p:sp>
        <p:nvSpPr>
          <p:cNvPr id="3" name="Content Placeholder 2">
            <a:extLst>
              <a:ext uri="{FF2B5EF4-FFF2-40B4-BE49-F238E27FC236}">
                <a16:creationId xmlns:a16="http://schemas.microsoft.com/office/drawing/2014/main" id="{505997EA-4128-1F7F-3A48-BB4525FE6DF1}"/>
              </a:ext>
            </a:extLst>
          </p:cNvPr>
          <p:cNvSpPr>
            <a:spLocks noGrp="1"/>
          </p:cNvSpPr>
          <p:nvPr>
            <p:ph idx="1"/>
          </p:nvPr>
        </p:nvSpPr>
        <p:spPr/>
        <p:txBody>
          <a:bodyPr>
            <a:normAutofit/>
          </a:bodyPr>
          <a:lstStyle/>
          <a:p>
            <a:r>
              <a:rPr lang="en-US" sz="2600" dirty="0">
                <a:latin typeface="Simplified Arabic" panose="02020603050405020304" pitchFamily="18" charset="-78"/>
                <a:cs typeface="Simplified Arabic" panose="02020603050405020304" pitchFamily="18" charset="-78"/>
              </a:rPr>
              <a:t>Linguistic interpretability occupies a central position within modern NLP research, bridging deep learning, linguistic theory, and explainable AI. Rather than focusing solely on performance improvements, this field aims to provide scientific insight into how language models function internally. By integrating linguistic concepts with neural analysis, interpretability research contributes to transforming NLP from a purely engineering-driven discipline into a more explanatory and theory-informed field.</a:t>
            </a:r>
          </a:p>
        </p:txBody>
      </p:sp>
    </p:spTree>
    <p:extLst>
      <p:ext uri="{BB962C8B-B14F-4D97-AF65-F5344CB8AC3E}">
        <p14:creationId xmlns:p14="http://schemas.microsoft.com/office/powerpoint/2010/main" val="31179623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AE7F5-9753-A40B-1A45-D0175FCF9DEC}"/>
              </a:ext>
            </a:extLst>
          </p:cNvPr>
          <p:cNvSpPr>
            <a:spLocks noGrp="1"/>
          </p:cNvSpPr>
          <p:nvPr>
            <p:ph type="title"/>
          </p:nvPr>
        </p:nvSpPr>
        <p:spPr/>
        <p:txBody>
          <a:bodyPr/>
          <a:lstStyle/>
          <a:p>
            <a:r>
              <a:rPr lang="en-US" dirty="0"/>
              <a:t>Relation to Core NLP Tasks</a:t>
            </a:r>
          </a:p>
        </p:txBody>
      </p:sp>
      <p:sp>
        <p:nvSpPr>
          <p:cNvPr id="3" name="Content Placeholder 2">
            <a:extLst>
              <a:ext uri="{FF2B5EF4-FFF2-40B4-BE49-F238E27FC236}">
                <a16:creationId xmlns:a16="http://schemas.microsoft.com/office/drawing/2014/main" id="{BABFE362-E68A-71B3-E063-8D81E5CF7331}"/>
              </a:ext>
            </a:extLst>
          </p:cNvPr>
          <p:cNvSpPr>
            <a:spLocks noGrp="1"/>
          </p:cNvSpPr>
          <p:nvPr>
            <p:ph idx="1"/>
          </p:nvPr>
        </p:nvSpPr>
        <p:spPr/>
        <p:txBody>
          <a:bodyPr>
            <a:normAutofit lnSpcReduction="10000"/>
          </a:bodyPr>
          <a:lstStyle/>
          <a:p>
            <a:r>
              <a:rPr lang="en-US" sz="2600" dirty="0">
                <a:latin typeface="Simplified Arabic" panose="02020603050405020304" pitchFamily="18" charset="-78"/>
                <a:cs typeface="Simplified Arabic" panose="02020603050405020304" pitchFamily="18" charset="-78"/>
              </a:rPr>
              <a:t>Most core NLP tasks rely on linguistic knowledge at different levels. Tasks such as syntactic parsing and part-of-speech tagging depend on structural understanding, while semantic tasks such as named entity recognition and semantic role labeling require meaning representation. Higher-level applications, including natural language inference, summarization, and dialogue systems, combine multiple linguistic competencies. Linguistic interpretability enables systematic analysis of how transformer models handle these tasks internally.</a:t>
            </a:r>
          </a:p>
        </p:txBody>
      </p:sp>
    </p:spTree>
    <p:extLst>
      <p:ext uri="{BB962C8B-B14F-4D97-AF65-F5344CB8AC3E}">
        <p14:creationId xmlns:p14="http://schemas.microsoft.com/office/powerpoint/2010/main" val="19795642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C39B2-5BF6-C962-3B3D-4A653B6B428E}"/>
              </a:ext>
            </a:extLst>
          </p:cNvPr>
          <p:cNvSpPr>
            <a:spLocks noGrp="1"/>
          </p:cNvSpPr>
          <p:nvPr>
            <p:ph type="title"/>
          </p:nvPr>
        </p:nvSpPr>
        <p:spPr>
          <a:xfrm>
            <a:off x="1295402" y="982132"/>
            <a:ext cx="4800598" cy="1303867"/>
          </a:xfrm>
        </p:spPr>
        <p:txBody>
          <a:bodyPr/>
          <a:lstStyle/>
          <a:p>
            <a:r>
              <a:rPr lang="en-US" dirty="0"/>
              <a:t>Research Landscape</a:t>
            </a:r>
          </a:p>
        </p:txBody>
      </p:sp>
      <p:sp>
        <p:nvSpPr>
          <p:cNvPr id="3" name="Content Placeholder 2">
            <a:extLst>
              <a:ext uri="{FF2B5EF4-FFF2-40B4-BE49-F238E27FC236}">
                <a16:creationId xmlns:a16="http://schemas.microsoft.com/office/drawing/2014/main" id="{2A9A1203-C85C-2A52-C240-1A3B8779E96B}"/>
              </a:ext>
            </a:extLst>
          </p:cNvPr>
          <p:cNvSpPr>
            <a:spLocks noGrp="1"/>
          </p:cNvSpPr>
          <p:nvPr>
            <p:ph idx="1"/>
          </p:nvPr>
        </p:nvSpPr>
        <p:spPr/>
        <p:txBody>
          <a:bodyPr>
            <a:normAutofit/>
          </a:bodyPr>
          <a:lstStyle/>
          <a:p>
            <a:r>
              <a:rPr lang="en-US" sz="2600" dirty="0">
                <a:latin typeface="Simplified Arabic" panose="02020603050405020304" pitchFamily="18" charset="-78"/>
                <a:cs typeface="Simplified Arabic" panose="02020603050405020304" pitchFamily="18" charset="-78"/>
              </a:rPr>
              <a:t>Research in linguistic interpretability can be broadly categorized into several complementary streams. These include probing-based approaches that examine encoded linguistic features, attention-based analyses that study structural alignment, causal methods that test the necessity of internal components, and mechanistic approaches that aim to reverse-engineer computation circuits. Together, these streams provide a comprehensive view of how linguistic knowledge emerges in transformer models.</a:t>
            </a:r>
          </a:p>
        </p:txBody>
      </p:sp>
    </p:spTree>
    <p:extLst>
      <p:ext uri="{BB962C8B-B14F-4D97-AF65-F5344CB8AC3E}">
        <p14:creationId xmlns:p14="http://schemas.microsoft.com/office/powerpoint/2010/main" val="23223499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E2707-A78B-44ED-8969-09FB3510CD7A}"/>
              </a:ext>
            </a:extLst>
          </p:cNvPr>
          <p:cNvSpPr>
            <a:spLocks noGrp="1"/>
          </p:cNvSpPr>
          <p:nvPr>
            <p:ph type="title"/>
          </p:nvPr>
        </p:nvSpPr>
        <p:spPr/>
        <p:txBody>
          <a:bodyPr/>
          <a:lstStyle/>
          <a:p>
            <a:r>
              <a:rPr lang="en-US" dirty="0"/>
              <a:t>Probing based Methods</a:t>
            </a:r>
          </a:p>
        </p:txBody>
      </p:sp>
      <p:sp>
        <p:nvSpPr>
          <p:cNvPr id="3" name="Content Placeholder 2">
            <a:extLst>
              <a:ext uri="{FF2B5EF4-FFF2-40B4-BE49-F238E27FC236}">
                <a16:creationId xmlns:a16="http://schemas.microsoft.com/office/drawing/2014/main" id="{2E4603D7-99FB-9443-A819-2D2418B37659}"/>
              </a:ext>
            </a:extLst>
          </p:cNvPr>
          <p:cNvSpPr>
            <a:spLocks noGrp="1"/>
          </p:cNvSpPr>
          <p:nvPr>
            <p:ph idx="1"/>
          </p:nvPr>
        </p:nvSpPr>
        <p:spPr/>
        <p:txBody>
          <a:bodyPr>
            <a:normAutofit fontScale="77500" lnSpcReduction="20000"/>
          </a:bodyPr>
          <a:lstStyle/>
          <a:p>
            <a:r>
              <a:rPr lang="en-US" dirty="0">
                <a:latin typeface="Simplified Arabic" panose="02020603050405020304" pitchFamily="18" charset="-78"/>
                <a:cs typeface="Simplified Arabic" panose="02020603050405020304" pitchFamily="18" charset="-78"/>
              </a:rPr>
              <a:t>Probing methods train lightweight classifiers on frozen model representations</a:t>
            </a:r>
          </a:p>
          <a:p>
            <a:endParaRPr lang="en-US" dirty="0">
              <a:latin typeface="Simplified Arabic" panose="02020603050405020304" pitchFamily="18" charset="-78"/>
              <a:cs typeface="Simplified Arabic" panose="02020603050405020304" pitchFamily="18" charset="-78"/>
            </a:endParaRPr>
          </a:p>
          <a:p>
            <a:r>
              <a:rPr lang="en-US" dirty="0">
                <a:latin typeface="Simplified Arabic" panose="02020603050405020304" pitchFamily="18" charset="-78"/>
                <a:cs typeface="Simplified Arabic" panose="02020603050405020304" pitchFamily="18" charset="-78"/>
              </a:rPr>
              <a:t>They evaluate whether linguistic properties can be extracted from specific layers</a:t>
            </a:r>
          </a:p>
          <a:p>
            <a:endParaRPr lang="en-US" dirty="0">
              <a:latin typeface="Simplified Arabic" panose="02020603050405020304" pitchFamily="18" charset="-78"/>
              <a:cs typeface="Simplified Arabic" panose="02020603050405020304" pitchFamily="18" charset="-78"/>
            </a:endParaRPr>
          </a:p>
          <a:p>
            <a:r>
              <a:rPr lang="en-US" dirty="0">
                <a:latin typeface="Simplified Arabic" panose="02020603050405020304" pitchFamily="18" charset="-78"/>
                <a:cs typeface="Simplified Arabic" panose="02020603050405020304" pitchFamily="18" charset="-78"/>
              </a:rPr>
              <a:t>Common probing tasks include POS tagging, dependency relations, and semantic roles</a:t>
            </a:r>
          </a:p>
          <a:p>
            <a:endParaRPr lang="en-US" dirty="0">
              <a:latin typeface="Simplified Arabic" panose="02020603050405020304" pitchFamily="18" charset="-78"/>
              <a:cs typeface="Simplified Arabic" panose="02020603050405020304" pitchFamily="18" charset="-78"/>
            </a:endParaRPr>
          </a:p>
          <a:p>
            <a:r>
              <a:rPr lang="en-US" dirty="0">
                <a:latin typeface="Simplified Arabic" panose="02020603050405020304" pitchFamily="18" charset="-78"/>
                <a:cs typeface="Simplified Arabic" panose="02020603050405020304" pitchFamily="18" charset="-78"/>
              </a:rPr>
              <a:t>Layer-wise probing reveals where different types of linguistic information emerge</a:t>
            </a:r>
          </a:p>
          <a:p>
            <a:endParaRPr lang="en-US" dirty="0">
              <a:latin typeface="Simplified Arabic" panose="02020603050405020304" pitchFamily="18" charset="-78"/>
              <a:cs typeface="Simplified Arabic" panose="02020603050405020304" pitchFamily="18" charset="-78"/>
            </a:endParaRPr>
          </a:p>
          <a:p>
            <a:r>
              <a:rPr lang="en-US" dirty="0">
                <a:latin typeface="Simplified Arabic" panose="02020603050405020304" pitchFamily="18" charset="-78"/>
                <a:cs typeface="Simplified Arabic" panose="02020603050405020304" pitchFamily="18" charset="-78"/>
              </a:rPr>
              <a:t>A key limitation is that probing measures correlation rather than causation</a:t>
            </a:r>
          </a:p>
        </p:txBody>
      </p:sp>
    </p:spTree>
    <p:extLst>
      <p:ext uri="{BB962C8B-B14F-4D97-AF65-F5344CB8AC3E}">
        <p14:creationId xmlns:p14="http://schemas.microsoft.com/office/powerpoint/2010/main" val="7314117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5C637-63E4-9C36-A788-BFD8226C4006}"/>
              </a:ext>
            </a:extLst>
          </p:cNvPr>
          <p:cNvSpPr>
            <a:spLocks noGrp="1"/>
          </p:cNvSpPr>
          <p:nvPr>
            <p:ph type="title"/>
          </p:nvPr>
        </p:nvSpPr>
        <p:spPr/>
        <p:txBody>
          <a:bodyPr>
            <a:normAutofit fontScale="90000"/>
          </a:bodyPr>
          <a:lstStyle/>
          <a:p>
            <a:r>
              <a:rPr lang="en-US" dirty="0"/>
              <a:t>Concrete Examples of Linguistic Interpretability</a:t>
            </a:r>
          </a:p>
        </p:txBody>
      </p:sp>
      <p:sp>
        <p:nvSpPr>
          <p:cNvPr id="3" name="Content Placeholder 2">
            <a:extLst>
              <a:ext uri="{FF2B5EF4-FFF2-40B4-BE49-F238E27FC236}">
                <a16:creationId xmlns:a16="http://schemas.microsoft.com/office/drawing/2014/main" id="{232CF386-E8A1-FD5A-F592-45113A993ABE}"/>
              </a:ext>
            </a:extLst>
          </p:cNvPr>
          <p:cNvSpPr>
            <a:spLocks noGrp="1"/>
          </p:cNvSpPr>
          <p:nvPr>
            <p:ph idx="1"/>
          </p:nvPr>
        </p:nvSpPr>
        <p:spPr/>
        <p:txBody>
          <a:bodyPr>
            <a:normAutofit fontScale="92500" lnSpcReduction="20000"/>
          </a:bodyPr>
          <a:lstStyle/>
          <a:p>
            <a:r>
              <a:rPr lang="en-US" dirty="0">
                <a:latin typeface="Simplified Arabic" panose="02020603050405020304" pitchFamily="18" charset="-78"/>
                <a:cs typeface="Simplified Arabic" panose="02020603050405020304" pitchFamily="18" charset="-78"/>
              </a:rPr>
              <a:t>Example 1: Attention Visualization</a:t>
            </a:r>
          </a:p>
          <a:p>
            <a:r>
              <a:rPr lang="en-US" dirty="0">
                <a:latin typeface="Simplified Arabic" panose="02020603050405020304" pitchFamily="18" charset="-78"/>
                <a:cs typeface="Simplified Arabic" panose="02020603050405020304" pitchFamily="18" charset="-78"/>
              </a:rPr>
              <a:t>Sentence: "The cat sat on the mat."</a:t>
            </a:r>
          </a:p>
          <a:p>
            <a:r>
              <a:rPr lang="en-US" dirty="0">
                <a:latin typeface="Simplified Arabic" panose="02020603050405020304" pitchFamily="18" charset="-78"/>
                <a:cs typeface="Simplified Arabic" panose="02020603050405020304" pitchFamily="18" charset="-78"/>
              </a:rPr>
              <a:t>Show attention heatmap from a BERT layer — highlight how cat attends strongly to sat (subject-verb relation).</a:t>
            </a:r>
          </a:p>
          <a:p>
            <a:endParaRPr lang="en-US" dirty="0">
              <a:latin typeface="Simplified Arabic" panose="02020603050405020304" pitchFamily="18" charset="-78"/>
              <a:cs typeface="Simplified Arabic" panose="02020603050405020304" pitchFamily="18" charset="-78"/>
            </a:endParaRPr>
          </a:p>
          <a:p>
            <a:r>
              <a:rPr lang="en-US" dirty="0">
                <a:latin typeface="Simplified Arabic" panose="02020603050405020304" pitchFamily="18" charset="-78"/>
                <a:cs typeface="Simplified Arabic" panose="02020603050405020304" pitchFamily="18" charset="-78"/>
              </a:rPr>
              <a:t>Example 2: Probing for Part-of-Speech</a:t>
            </a:r>
          </a:p>
          <a:p>
            <a:r>
              <a:rPr lang="en-US" dirty="0">
                <a:latin typeface="Simplified Arabic" panose="02020603050405020304" pitchFamily="18" charset="-78"/>
                <a:cs typeface="Simplified Arabic" panose="02020603050405020304" pitchFamily="18" charset="-78"/>
              </a:rPr>
              <a:t>Use a simple classifier to extract POS tags from different BERT layers — show accuracy per layer (e.g., lower layers capture surface forms, higher layers capture syntax).</a:t>
            </a:r>
          </a:p>
          <a:p>
            <a:endParaRPr lang="en-US" dirty="0">
              <a:latin typeface="Simplified Arabic" panose="02020603050405020304" pitchFamily="18" charset="-78"/>
              <a:cs typeface="Simplified Arabic" panose="02020603050405020304" pitchFamily="18" charset="-78"/>
            </a:endParaRPr>
          </a:p>
        </p:txBody>
      </p:sp>
    </p:spTree>
    <p:extLst>
      <p:ext uri="{BB962C8B-B14F-4D97-AF65-F5344CB8AC3E}">
        <p14:creationId xmlns:p14="http://schemas.microsoft.com/office/powerpoint/2010/main" val="4598715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50CB2-DCBE-7473-4452-8030DCA28211}"/>
              </a:ext>
            </a:extLst>
          </p:cNvPr>
          <p:cNvSpPr>
            <a:spLocks noGrp="1"/>
          </p:cNvSpPr>
          <p:nvPr>
            <p:ph type="title"/>
          </p:nvPr>
        </p:nvSpPr>
        <p:spPr/>
        <p:txBody>
          <a:bodyPr/>
          <a:lstStyle/>
          <a:p>
            <a:r>
              <a:rPr lang="en-US" dirty="0"/>
              <a:t>Attention based Analysis</a:t>
            </a:r>
          </a:p>
        </p:txBody>
      </p:sp>
      <p:sp>
        <p:nvSpPr>
          <p:cNvPr id="3" name="Content Placeholder 2">
            <a:extLst>
              <a:ext uri="{FF2B5EF4-FFF2-40B4-BE49-F238E27FC236}">
                <a16:creationId xmlns:a16="http://schemas.microsoft.com/office/drawing/2014/main" id="{54168C99-EF4E-01F1-4AF2-8C75A655BA23}"/>
              </a:ext>
            </a:extLst>
          </p:cNvPr>
          <p:cNvSpPr>
            <a:spLocks noGrp="1"/>
          </p:cNvSpPr>
          <p:nvPr>
            <p:ph idx="1"/>
          </p:nvPr>
        </p:nvSpPr>
        <p:spPr/>
        <p:txBody>
          <a:bodyPr>
            <a:normAutofit fontScale="77500" lnSpcReduction="20000"/>
          </a:bodyPr>
          <a:lstStyle/>
          <a:p>
            <a:r>
              <a:rPr lang="en-US" dirty="0">
                <a:latin typeface="Simplified Arabic" panose="02020603050405020304" pitchFamily="18" charset="-78"/>
                <a:cs typeface="Simplified Arabic" panose="02020603050405020304" pitchFamily="18" charset="-78"/>
              </a:rPr>
              <a:t>Attention analysis investigates how self-attention mechanisms distribute focus across tokens</a:t>
            </a:r>
          </a:p>
          <a:p>
            <a:endParaRPr lang="en-US" dirty="0">
              <a:latin typeface="Simplified Arabic" panose="02020603050405020304" pitchFamily="18" charset="-78"/>
              <a:cs typeface="Simplified Arabic" panose="02020603050405020304" pitchFamily="18" charset="-78"/>
            </a:endParaRPr>
          </a:p>
          <a:p>
            <a:r>
              <a:rPr lang="en-US" dirty="0">
                <a:latin typeface="Simplified Arabic" panose="02020603050405020304" pitchFamily="18" charset="-78"/>
                <a:cs typeface="Simplified Arabic" panose="02020603050405020304" pitchFamily="18" charset="-78"/>
              </a:rPr>
              <a:t>Researchers examine whether attention heads correspond to syntactic or semantic relations</a:t>
            </a:r>
          </a:p>
          <a:p>
            <a:endParaRPr lang="en-US" dirty="0">
              <a:latin typeface="Simplified Arabic" panose="02020603050405020304" pitchFamily="18" charset="-78"/>
              <a:cs typeface="Simplified Arabic" panose="02020603050405020304" pitchFamily="18" charset="-78"/>
            </a:endParaRPr>
          </a:p>
          <a:p>
            <a:r>
              <a:rPr lang="en-US" dirty="0">
                <a:latin typeface="Simplified Arabic" panose="02020603050405020304" pitchFamily="18" charset="-78"/>
                <a:cs typeface="Simplified Arabic" panose="02020603050405020304" pitchFamily="18" charset="-78"/>
              </a:rPr>
              <a:t>Some heads specialize in capturing subject–verb or modifier–head dependencies</a:t>
            </a:r>
          </a:p>
          <a:p>
            <a:endParaRPr lang="en-US" dirty="0">
              <a:latin typeface="Simplified Arabic" panose="02020603050405020304" pitchFamily="18" charset="-78"/>
              <a:cs typeface="Simplified Arabic" panose="02020603050405020304" pitchFamily="18" charset="-78"/>
            </a:endParaRPr>
          </a:p>
          <a:p>
            <a:r>
              <a:rPr lang="en-US" dirty="0">
                <a:latin typeface="Simplified Arabic" panose="02020603050405020304" pitchFamily="18" charset="-78"/>
                <a:cs typeface="Simplified Arabic" panose="02020603050405020304" pitchFamily="18" charset="-78"/>
              </a:rPr>
              <a:t>These patterns suggest structural linguistic knowledge</a:t>
            </a:r>
          </a:p>
          <a:p>
            <a:endParaRPr lang="en-US" dirty="0">
              <a:latin typeface="Simplified Arabic" panose="02020603050405020304" pitchFamily="18" charset="-78"/>
              <a:cs typeface="Simplified Arabic" panose="02020603050405020304" pitchFamily="18" charset="-78"/>
            </a:endParaRPr>
          </a:p>
          <a:p>
            <a:r>
              <a:rPr lang="en-US" dirty="0">
                <a:latin typeface="Simplified Arabic" panose="02020603050405020304" pitchFamily="18" charset="-78"/>
                <a:cs typeface="Simplified Arabic" panose="02020603050405020304" pitchFamily="18" charset="-78"/>
              </a:rPr>
              <a:t>However, attention weights do not always reflect causal importance</a:t>
            </a:r>
          </a:p>
        </p:txBody>
      </p:sp>
    </p:spTree>
    <p:extLst>
      <p:ext uri="{BB962C8B-B14F-4D97-AF65-F5344CB8AC3E}">
        <p14:creationId xmlns:p14="http://schemas.microsoft.com/office/powerpoint/2010/main" val="6150263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BB4B3-07F2-9222-B339-81DF95FB26F0}"/>
              </a:ext>
            </a:extLst>
          </p:cNvPr>
          <p:cNvSpPr>
            <a:spLocks noGrp="1"/>
          </p:cNvSpPr>
          <p:nvPr>
            <p:ph type="title"/>
          </p:nvPr>
        </p:nvSpPr>
        <p:spPr/>
        <p:txBody>
          <a:bodyPr/>
          <a:lstStyle/>
          <a:p>
            <a:r>
              <a:rPr lang="en-US" dirty="0"/>
              <a:t>Causal Interpretability Methods</a:t>
            </a:r>
          </a:p>
        </p:txBody>
      </p:sp>
      <p:sp>
        <p:nvSpPr>
          <p:cNvPr id="3" name="Content Placeholder 2">
            <a:extLst>
              <a:ext uri="{FF2B5EF4-FFF2-40B4-BE49-F238E27FC236}">
                <a16:creationId xmlns:a16="http://schemas.microsoft.com/office/drawing/2014/main" id="{275F121F-1AB7-378E-5D0B-56C75B051DBD}"/>
              </a:ext>
            </a:extLst>
          </p:cNvPr>
          <p:cNvSpPr>
            <a:spLocks noGrp="1"/>
          </p:cNvSpPr>
          <p:nvPr>
            <p:ph idx="1"/>
          </p:nvPr>
        </p:nvSpPr>
        <p:spPr/>
        <p:txBody>
          <a:bodyPr>
            <a:normAutofit/>
          </a:bodyPr>
          <a:lstStyle/>
          <a:p>
            <a:r>
              <a:rPr lang="en-US" sz="2600" dirty="0">
                <a:latin typeface="Simplified Arabic" panose="02020603050405020304" pitchFamily="18" charset="-78"/>
                <a:cs typeface="Simplified Arabic" panose="02020603050405020304" pitchFamily="18" charset="-78"/>
              </a:rPr>
              <a:t>Causal interpretability aims to determine whether specific internal components are necessary for a model’s linguistic capabilities. This is achieved through interventions such as ablation of layers, attention heads, or neurons, as well as activation patching techniques that manipulate internal states. If modifying a component leads to significant performance degradation, it can be considered causally important. These methods offer stronger interpretability claims than purely correlational analyses.</a:t>
            </a:r>
          </a:p>
        </p:txBody>
      </p:sp>
    </p:spTree>
    <p:extLst>
      <p:ext uri="{BB962C8B-B14F-4D97-AF65-F5344CB8AC3E}">
        <p14:creationId xmlns:p14="http://schemas.microsoft.com/office/powerpoint/2010/main" val="28234906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D6381-B224-9FC9-B641-86057EA1A64F}"/>
              </a:ext>
            </a:extLst>
          </p:cNvPr>
          <p:cNvSpPr>
            <a:spLocks noGrp="1"/>
          </p:cNvSpPr>
          <p:nvPr>
            <p:ph type="title"/>
          </p:nvPr>
        </p:nvSpPr>
        <p:spPr/>
        <p:txBody>
          <a:bodyPr/>
          <a:lstStyle/>
          <a:p>
            <a:r>
              <a:rPr lang="en-US" dirty="0"/>
              <a:t>Mechanistic Interpretability</a:t>
            </a:r>
          </a:p>
        </p:txBody>
      </p:sp>
      <p:sp>
        <p:nvSpPr>
          <p:cNvPr id="3" name="Content Placeholder 2">
            <a:extLst>
              <a:ext uri="{FF2B5EF4-FFF2-40B4-BE49-F238E27FC236}">
                <a16:creationId xmlns:a16="http://schemas.microsoft.com/office/drawing/2014/main" id="{D3A645A6-DA7E-C2D0-AB70-275893CD7FDD}"/>
              </a:ext>
            </a:extLst>
          </p:cNvPr>
          <p:cNvSpPr>
            <a:spLocks noGrp="1"/>
          </p:cNvSpPr>
          <p:nvPr>
            <p:ph idx="1"/>
          </p:nvPr>
        </p:nvSpPr>
        <p:spPr/>
        <p:txBody>
          <a:bodyPr>
            <a:normAutofit fontScale="77500" lnSpcReduction="20000"/>
          </a:bodyPr>
          <a:lstStyle/>
          <a:p>
            <a:r>
              <a:rPr lang="en-US" dirty="0">
                <a:latin typeface="Simplified Arabic" panose="02020603050405020304" pitchFamily="18" charset="-78"/>
                <a:cs typeface="Simplified Arabic" panose="02020603050405020304" pitchFamily="18" charset="-78"/>
              </a:rPr>
              <a:t>Mechanistic interpretability focuses on understanding exact computational pathways</a:t>
            </a:r>
          </a:p>
          <a:p>
            <a:endParaRPr lang="en-US" dirty="0">
              <a:latin typeface="Simplified Arabic" panose="02020603050405020304" pitchFamily="18" charset="-78"/>
              <a:cs typeface="Simplified Arabic" panose="02020603050405020304" pitchFamily="18" charset="-78"/>
            </a:endParaRPr>
          </a:p>
          <a:p>
            <a:r>
              <a:rPr lang="en-US" dirty="0">
                <a:latin typeface="Simplified Arabic" panose="02020603050405020304" pitchFamily="18" charset="-78"/>
                <a:cs typeface="Simplified Arabic" panose="02020603050405020304" pitchFamily="18" charset="-78"/>
              </a:rPr>
              <a:t>It attempts to identify circuits responsible for specific linguistic capabilities</a:t>
            </a:r>
          </a:p>
          <a:p>
            <a:endParaRPr lang="en-US" dirty="0">
              <a:latin typeface="Simplified Arabic" panose="02020603050405020304" pitchFamily="18" charset="-78"/>
              <a:cs typeface="Simplified Arabic" panose="02020603050405020304" pitchFamily="18" charset="-78"/>
            </a:endParaRPr>
          </a:p>
          <a:p>
            <a:r>
              <a:rPr lang="en-US" dirty="0">
                <a:latin typeface="Simplified Arabic" panose="02020603050405020304" pitchFamily="18" charset="-78"/>
                <a:cs typeface="Simplified Arabic" panose="02020603050405020304" pitchFamily="18" charset="-78"/>
              </a:rPr>
              <a:t>This approach is similar to reverse engineering neural networks</a:t>
            </a:r>
          </a:p>
          <a:p>
            <a:endParaRPr lang="en-US" dirty="0">
              <a:latin typeface="Simplified Arabic" panose="02020603050405020304" pitchFamily="18" charset="-78"/>
              <a:cs typeface="Simplified Arabic" panose="02020603050405020304" pitchFamily="18" charset="-78"/>
            </a:endParaRPr>
          </a:p>
          <a:p>
            <a:r>
              <a:rPr lang="en-US" dirty="0">
                <a:latin typeface="Simplified Arabic" panose="02020603050405020304" pitchFamily="18" charset="-78"/>
                <a:cs typeface="Simplified Arabic" panose="02020603050405020304" pitchFamily="18" charset="-78"/>
              </a:rPr>
              <a:t>It is often applied to smaller models or constrained tasks</a:t>
            </a:r>
          </a:p>
          <a:p>
            <a:endParaRPr lang="en-US" dirty="0">
              <a:latin typeface="Simplified Arabic" panose="02020603050405020304" pitchFamily="18" charset="-78"/>
              <a:cs typeface="Simplified Arabic" panose="02020603050405020304" pitchFamily="18" charset="-78"/>
            </a:endParaRPr>
          </a:p>
          <a:p>
            <a:r>
              <a:rPr lang="en-US" dirty="0">
                <a:latin typeface="Simplified Arabic" panose="02020603050405020304" pitchFamily="18" charset="-78"/>
                <a:cs typeface="Simplified Arabic" panose="02020603050405020304" pitchFamily="18" charset="-78"/>
              </a:rPr>
              <a:t>Recent work explores extending this approach to large language models</a:t>
            </a:r>
          </a:p>
        </p:txBody>
      </p:sp>
    </p:spTree>
    <p:extLst>
      <p:ext uri="{BB962C8B-B14F-4D97-AF65-F5344CB8AC3E}">
        <p14:creationId xmlns:p14="http://schemas.microsoft.com/office/powerpoint/2010/main" val="20803828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73AD4-EFBB-697D-70D5-9C54A2365BE3}"/>
              </a:ext>
            </a:extLst>
          </p:cNvPr>
          <p:cNvSpPr>
            <a:spLocks noGrp="1"/>
          </p:cNvSpPr>
          <p:nvPr>
            <p:ph type="title"/>
          </p:nvPr>
        </p:nvSpPr>
        <p:spPr/>
        <p:txBody>
          <a:bodyPr/>
          <a:lstStyle/>
          <a:p>
            <a:r>
              <a:rPr lang="en-US" dirty="0"/>
              <a:t>Tools &amp; Libraries for Interpretability</a:t>
            </a:r>
          </a:p>
        </p:txBody>
      </p:sp>
      <p:sp>
        <p:nvSpPr>
          <p:cNvPr id="3" name="Content Placeholder 2">
            <a:extLst>
              <a:ext uri="{FF2B5EF4-FFF2-40B4-BE49-F238E27FC236}">
                <a16:creationId xmlns:a16="http://schemas.microsoft.com/office/drawing/2014/main" id="{845E5255-974D-BB5E-9377-F7BCEAE7468E}"/>
              </a:ext>
            </a:extLst>
          </p:cNvPr>
          <p:cNvSpPr>
            <a:spLocks noGrp="1"/>
          </p:cNvSpPr>
          <p:nvPr>
            <p:ph idx="1"/>
          </p:nvPr>
        </p:nvSpPr>
        <p:spPr/>
        <p:txBody>
          <a:bodyPr>
            <a:normAutofit fontScale="62500" lnSpcReduction="20000"/>
          </a:bodyPr>
          <a:lstStyle/>
          <a:p>
            <a:r>
              <a:rPr lang="en-US" sz="2900" dirty="0" err="1">
                <a:latin typeface="Simplified Arabic" panose="02020603050405020304" pitchFamily="18" charset="-78"/>
                <a:cs typeface="Simplified Arabic" panose="02020603050405020304" pitchFamily="18" charset="-78"/>
              </a:rPr>
              <a:t>Captum</a:t>
            </a:r>
            <a:r>
              <a:rPr lang="en-US" sz="2900" dirty="0">
                <a:latin typeface="Simplified Arabic" panose="02020603050405020304" pitchFamily="18" charset="-78"/>
                <a:cs typeface="Simplified Arabic" panose="02020603050405020304" pitchFamily="18" charset="-78"/>
              </a:rPr>
              <a:t> (</a:t>
            </a:r>
            <a:r>
              <a:rPr lang="en-US" sz="2900" dirty="0" err="1">
                <a:latin typeface="Simplified Arabic" panose="02020603050405020304" pitchFamily="18" charset="-78"/>
                <a:cs typeface="Simplified Arabic" panose="02020603050405020304" pitchFamily="18" charset="-78"/>
              </a:rPr>
              <a:t>PyTorch</a:t>
            </a:r>
            <a:r>
              <a:rPr lang="en-US" sz="2900" dirty="0">
                <a:latin typeface="Simplified Arabic" panose="02020603050405020304" pitchFamily="18" charset="-78"/>
                <a:cs typeface="Simplified Arabic" panose="02020603050405020304" pitchFamily="18" charset="-78"/>
              </a:rPr>
              <a:t>): Model-agnostic attribution methods.</a:t>
            </a:r>
          </a:p>
          <a:p>
            <a:endParaRPr lang="en-US" dirty="0">
              <a:latin typeface="Simplified Arabic" panose="02020603050405020304" pitchFamily="18" charset="-78"/>
              <a:cs typeface="Simplified Arabic" panose="02020603050405020304" pitchFamily="18" charset="-78"/>
            </a:endParaRPr>
          </a:p>
          <a:p>
            <a:r>
              <a:rPr lang="en-US" sz="2900" dirty="0">
                <a:latin typeface="Simplified Arabic" panose="02020603050405020304" pitchFamily="18" charset="-78"/>
                <a:cs typeface="Simplified Arabic" panose="02020603050405020304" pitchFamily="18" charset="-78"/>
              </a:rPr>
              <a:t>Transformers Interpret (Hugging Face): Attention and gradient-based explanations.</a:t>
            </a:r>
          </a:p>
          <a:p>
            <a:endParaRPr lang="en-US" dirty="0">
              <a:latin typeface="Simplified Arabic" panose="02020603050405020304" pitchFamily="18" charset="-78"/>
              <a:cs typeface="Simplified Arabic" panose="02020603050405020304" pitchFamily="18" charset="-78"/>
            </a:endParaRPr>
          </a:p>
          <a:p>
            <a:r>
              <a:rPr lang="en-US" sz="2900" dirty="0">
                <a:latin typeface="Simplified Arabic" panose="02020603050405020304" pitchFamily="18" charset="-78"/>
                <a:cs typeface="Simplified Arabic" panose="02020603050405020304" pitchFamily="18" charset="-78"/>
              </a:rPr>
              <a:t>LIT (Language Interpretability Tool): Interactive exploration of model predictions.</a:t>
            </a:r>
          </a:p>
          <a:p>
            <a:endParaRPr lang="en-US" dirty="0">
              <a:latin typeface="Simplified Arabic" panose="02020603050405020304" pitchFamily="18" charset="-78"/>
              <a:cs typeface="Simplified Arabic" panose="02020603050405020304" pitchFamily="18" charset="-78"/>
            </a:endParaRPr>
          </a:p>
          <a:p>
            <a:r>
              <a:rPr lang="en-US" sz="2900" dirty="0">
                <a:latin typeface="Simplified Arabic" panose="02020603050405020304" pitchFamily="18" charset="-78"/>
                <a:cs typeface="Simplified Arabic" panose="02020603050405020304" pitchFamily="18" charset="-78"/>
              </a:rPr>
              <a:t>Ecco (for GPT-like models): Visualization of generation and attention.</a:t>
            </a:r>
          </a:p>
          <a:p>
            <a:endParaRPr lang="en-US" dirty="0">
              <a:latin typeface="Simplified Arabic" panose="02020603050405020304" pitchFamily="18" charset="-78"/>
              <a:cs typeface="Simplified Arabic" panose="02020603050405020304" pitchFamily="18" charset="-78"/>
            </a:endParaRPr>
          </a:p>
          <a:p>
            <a:r>
              <a:rPr lang="en-US" sz="2900" dirty="0">
                <a:latin typeface="Simplified Arabic" panose="02020603050405020304" pitchFamily="18" charset="-78"/>
                <a:cs typeface="Simplified Arabic" panose="02020603050405020304" pitchFamily="18" charset="-78"/>
              </a:rPr>
              <a:t>Why it matters: These tools lower the barrier to entry and support reproducible interpretability research.</a:t>
            </a:r>
            <a:endParaRPr lang="en-US" dirty="0">
              <a:latin typeface="Simplified Arabic" panose="02020603050405020304" pitchFamily="18" charset="-78"/>
              <a:cs typeface="Simplified Arabic" panose="02020603050405020304" pitchFamily="18" charset="-78"/>
            </a:endParaRPr>
          </a:p>
        </p:txBody>
      </p:sp>
    </p:spTree>
    <p:extLst>
      <p:ext uri="{BB962C8B-B14F-4D97-AF65-F5344CB8AC3E}">
        <p14:creationId xmlns:p14="http://schemas.microsoft.com/office/powerpoint/2010/main" val="9057350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D1EB5-896E-7BC4-43D3-80635E2F781B}"/>
              </a:ext>
            </a:extLst>
          </p:cNvPr>
          <p:cNvSpPr>
            <a:spLocks noGrp="1"/>
          </p:cNvSpPr>
          <p:nvPr>
            <p:ph type="title"/>
          </p:nvPr>
        </p:nvSpPr>
        <p:spPr>
          <a:xfrm>
            <a:off x="1295402" y="982132"/>
            <a:ext cx="3569675" cy="1303867"/>
          </a:xfrm>
        </p:spPr>
        <p:txBody>
          <a:bodyPr/>
          <a:lstStyle/>
          <a:p>
            <a:r>
              <a:rPr lang="en-US" dirty="0"/>
              <a:t>Key Challenges</a:t>
            </a:r>
          </a:p>
        </p:txBody>
      </p:sp>
      <p:sp>
        <p:nvSpPr>
          <p:cNvPr id="3" name="Content Placeholder 2">
            <a:extLst>
              <a:ext uri="{FF2B5EF4-FFF2-40B4-BE49-F238E27FC236}">
                <a16:creationId xmlns:a16="http://schemas.microsoft.com/office/drawing/2014/main" id="{53A40D6F-89C4-DA74-7140-EDC93933F9EE}"/>
              </a:ext>
            </a:extLst>
          </p:cNvPr>
          <p:cNvSpPr>
            <a:spLocks noGrp="1"/>
          </p:cNvSpPr>
          <p:nvPr>
            <p:ph idx="1"/>
          </p:nvPr>
        </p:nvSpPr>
        <p:spPr/>
        <p:txBody>
          <a:bodyPr>
            <a:normAutofit/>
          </a:bodyPr>
          <a:lstStyle/>
          <a:p>
            <a:r>
              <a:rPr lang="en-US" sz="2600" dirty="0">
                <a:latin typeface="Simplified Arabic" panose="02020603050405020304" pitchFamily="18" charset="-78"/>
                <a:cs typeface="Simplified Arabic" panose="02020603050405020304" pitchFamily="18" charset="-78"/>
              </a:rPr>
              <a:t>One of the main challenges in linguistic interpretability is that linguistic knowledge is distributed across many parameters rather than localized in individual neurons. This makes it difficult to associate specific components with clear linguistic concepts. Additional challenges include dependence on linguistic theory assumptions, high computational costs, and the absence of standardized evaluation benchmarks for interpretability research.</a:t>
            </a:r>
          </a:p>
        </p:txBody>
      </p:sp>
    </p:spTree>
    <p:extLst>
      <p:ext uri="{BB962C8B-B14F-4D97-AF65-F5344CB8AC3E}">
        <p14:creationId xmlns:p14="http://schemas.microsoft.com/office/powerpoint/2010/main" val="1986805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EF665-142C-5A01-32F4-351E80D26ABA}"/>
              </a:ext>
            </a:extLst>
          </p:cNvPr>
          <p:cNvSpPr>
            <a:spLocks noGrp="1"/>
          </p:cNvSpPr>
          <p:nvPr>
            <p:ph type="title"/>
          </p:nvPr>
        </p:nvSpPr>
        <p:spPr/>
        <p:txBody>
          <a:bodyPr/>
          <a:lstStyle/>
          <a:p>
            <a:r>
              <a:rPr lang="en-US" dirty="0"/>
              <a:t>Limitations of Current Approaches</a:t>
            </a:r>
          </a:p>
        </p:txBody>
      </p:sp>
      <p:sp>
        <p:nvSpPr>
          <p:cNvPr id="3" name="Content Placeholder 2">
            <a:extLst>
              <a:ext uri="{FF2B5EF4-FFF2-40B4-BE49-F238E27FC236}">
                <a16:creationId xmlns:a16="http://schemas.microsoft.com/office/drawing/2014/main" id="{1AC3C812-55FA-C7C3-74BA-152608405532}"/>
              </a:ext>
            </a:extLst>
          </p:cNvPr>
          <p:cNvSpPr>
            <a:spLocks noGrp="1"/>
          </p:cNvSpPr>
          <p:nvPr>
            <p:ph idx="1"/>
          </p:nvPr>
        </p:nvSpPr>
        <p:spPr/>
        <p:txBody>
          <a:bodyPr>
            <a:normAutofit fontScale="92500" lnSpcReduction="10000"/>
          </a:bodyPr>
          <a:lstStyle/>
          <a:p>
            <a:r>
              <a:rPr lang="en-US" sz="1800" dirty="0">
                <a:latin typeface="Simplified Arabic" panose="02020603050405020304" pitchFamily="18" charset="-78"/>
                <a:cs typeface="Simplified Arabic" panose="02020603050405020304" pitchFamily="18" charset="-78"/>
              </a:rPr>
              <a:t>Many interpretability methods rely on statistical correlations</a:t>
            </a:r>
          </a:p>
          <a:p>
            <a:endParaRPr lang="en-US" sz="1800" dirty="0">
              <a:latin typeface="Simplified Arabic" panose="02020603050405020304" pitchFamily="18" charset="-78"/>
              <a:cs typeface="Simplified Arabic" panose="02020603050405020304" pitchFamily="18" charset="-78"/>
            </a:endParaRPr>
          </a:p>
          <a:p>
            <a:r>
              <a:rPr lang="en-US" sz="1800" dirty="0">
                <a:latin typeface="Simplified Arabic" panose="02020603050405020304" pitchFamily="18" charset="-78"/>
                <a:cs typeface="Simplified Arabic" panose="02020603050405020304" pitchFamily="18" charset="-78"/>
              </a:rPr>
              <a:t>Results may not generalize across models or languages</a:t>
            </a:r>
          </a:p>
          <a:p>
            <a:endParaRPr lang="en-US" sz="1800" dirty="0">
              <a:latin typeface="Simplified Arabic" panose="02020603050405020304" pitchFamily="18" charset="-78"/>
              <a:cs typeface="Simplified Arabic" panose="02020603050405020304" pitchFamily="18" charset="-78"/>
            </a:endParaRPr>
          </a:p>
          <a:p>
            <a:r>
              <a:rPr lang="en-US" sz="1800" dirty="0">
                <a:latin typeface="Simplified Arabic" panose="02020603050405020304" pitchFamily="18" charset="-78"/>
                <a:cs typeface="Simplified Arabic" panose="02020603050405020304" pitchFamily="18" charset="-78"/>
              </a:rPr>
              <a:t>Linguistic categories may not align cleanly with neural representations</a:t>
            </a:r>
          </a:p>
          <a:p>
            <a:endParaRPr lang="en-US" sz="1800" dirty="0">
              <a:latin typeface="Simplified Arabic" panose="02020603050405020304" pitchFamily="18" charset="-78"/>
              <a:cs typeface="Simplified Arabic" panose="02020603050405020304" pitchFamily="18" charset="-78"/>
            </a:endParaRPr>
          </a:p>
          <a:p>
            <a:r>
              <a:rPr lang="en-US" sz="1800" dirty="0">
                <a:latin typeface="Simplified Arabic" panose="02020603050405020304" pitchFamily="18" charset="-78"/>
                <a:cs typeface="Simplified Arabic" panose="02020603050405020304" pitchFamily="18" charset="-78"/>
              </a:rPr>
              <a:t>Human interpretation introduces subjectivity</a:t>
            </a:r>
          </a:p>
          <a:p>
            <a:endParaRPr lang="en-US" sz="1800" dirty="0">
              <a:latin typeface="Simplified Arabic" panose="02020603050405020304" pitchFamily="18" charset="-78"/>
              <a:cs typeface="Simplified Arabic" panose="02020603050405020304" pitchFamily="18" charset="-78"/>
            </a:endParaRPr>
          </a:p>
          <a:p>
            <a:r>
              <a:rPr lang="en-US" sz="1800" dirty="0">
                <a:latin typeface="Simplified Arabic" panose="02020603050405020304" pitchFamily="18" charset="-78"/>
                <a:cs typeface="Simplified Arabic" panose="02020603050405020304" pitchFamily="18" charset="-78"/>
              </a:rPr>
              <a:t>Scalability remains a major concern for LLMs</a:t>
            </a:r>
          </a:p>
          <a:p>
            <a:endParaRPr lang="en-US" sz="1800" dirty="0">
              <a:latin typeface="Simplified Arabic" panose="02020603050405020304" pitchFamily="18" charset="-78"/>
              <a:cs typeface="Simplified Arabic" panose="02020603050405020304" pitchFamily="18" charset="-78"/>
            </a:endParaRPr>
          </a:p>
        </p:txBody>
      </p:sp>
    </p:spTree>
    <p:extLst>
      <p:ext uri="{BB962C8B-B14F-4D97-AF65-F5344CB8AC3E}">
        <p14:creationId xmlns:p14="http://schemas.microsoft.com/office/powerpoint/2010/main" val="12659767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EDCEC-991C-2344-3928-02D7E29E800D}"/>
              </a:ext>
            </a:extLst>
          </p:cNvPr>
          <p:cNvSpPr>
            <a:spLocks noGrp="1"/>
          </p:cNvSpPr>
          <p:nvPr>
            <p:ph type="title"/>
          </p:nvPr>
        </p:nvSpPr>
        <p:spPr/>
        <p:txBody>
          <a:bodyPr/>
          <a:lstStyle/>
          <a:p>
            <a:r>
              <a:rPr lang="en-US" dirty="0"/>
              <a:t>Future Research Directions</a:t>
            </a:r>
          </a:p>
        </p:txBody>
      </p:sp>
      <p:sp>
        <p:nvSpPr>
          <p:cNvPr id="3" name="Content Placeholder 2">
            <a:extLst>
              <a:ext uri="{FF2B5EF4-FFF2-40B4-BE49-F238E27FC236}">
                <a16:creationId xmlns:a16="http://schemas.microsoft.com/office/drawing/2014/main" id="{F17B6EA3-C88D-1D7D-A87F-42E3FCE4F2A6}"/>
              </a:ext>
            </a:extLst>
          </p:cNvPr>
          <p:cNvSpPr>
            <a:spLocks noGrp="1"/>
          </p:cNvSpPr>
          <p:nvPr>
            <p:ph idx="1"/>
          </p:nvPr>
        </p:nvSpPr>
        <p:spPr/>
        <p:txBody>
          <a:bodyPr>
            <a:normAutofit/>
          </a:bodyPr>
          <a:lstStyle/>
          <a:p>
            <a:r>
              <a:rPr lang="en-US" sz="2600" dirty="0">
                <a:latin typeface="Simplified Arabic" panose="02020603050405020304" pitchFamily="18" charset="-78"/>
                <a:cs typeface="Simplified Arabic" panose="02020603050405020304" pitchFamily="18" charset="-78"/>
              </a:rPr>
              <a:t>Future research in linguistic interpretability is expected to focus on developing more robust and scalable causal methods. Cross-lingual and multilingual interpretability will play an increasingly important role as models are deployed globally. Integrating linguistic theory into model architectures and incorporating human-in-the-loop evaluation frameworks are also promising directions. Interpretability for large language models remains a key open challenge.</a:t>
            </a:r>
          </a:p>
        </p:txBody>
      </p:sp>
    </p:spTree>
    <p:extLst>
      <p:ext uri="{BB962C8B-B14F-4D97-AF65-F5344CB8AC3E}">
        <p14:creationId xmlns:p14="http://schemas.microsoft.com/office/powerpoint/2010/main" val="26398795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0DD44-2302-D380-891C-7CD32225ED96}"/>
              </a:ext>
            </a:extLst>
          </p:cNvPr>
          <p:cNvSpPr>
            <a:spLocks noGrp="1"/>
          </p:cNvSpPr>
          <p:nvPr>
            <p:ph type="title"/>
          </p:nvPr>
        </p:nvSpPr>
        <p:spPr>
          <a:xfrm>
            <a:off x="1295402" y="982132"/>
            <a:ext cx="4929552" cy="1303867"/>
          </a:xfrm>
        </p:spPr>
        <p:txBody>
          <a:bodyPr/>
          <a:lstStyle/>
          <a:p>
            <a:r>
              <a:rPr lang="en-US" dirty="0">
                <a:cs typeface="Simplified Arabic" panose="02020603050405020304" pitchFamily="18" charset="-78"/>
              </a:rPr>
              <a:t>Practical Applications</a:t>
            </a:r>
          </a:p>
        </p:txBody>
      </p:sp>
      <p:sp>
        <p:nvSpPr>
          <p:cNvPr id="3" name="Content Placeholder 2">
            <a:extLst>
              <a:ext uri="{FF2B5EF4-FFF2-40B4-BE49-F238E27FC236}">
                <a16:creationId xmlns:a16="http://schemas.microsoft.com/office/drawing/2014/main" id="{E63701F5-5101-90E9-5261-47C32EC9B527}"/>
              </a:ext>
            </a:extLst>
          </p:cNvPr>
          <p:cNvSpPr>
            <a:spLocks noGrp="1"/>
          </p:cNvSpPr>
          <p:nvPr>
            <p:ph idx="1"/>
          </p:nvPr>
        </p:nvSpPr>
        <p:spPr/>
        <p:txBody>
          <a:bodyPr>
            <a:normAutofit/>
          </a:bodyPr>
          <a:lstStyle/>
          <a:p>
            <a:r>
              <a:rPr lang="en-US" sz="2600" dirty="0">
                <a:latin typeface="Simplified Arabic" panose="02020603050405020304" pitchFamily="18" charset="-78"/>
                <a:cs typeface="Simplified Arabic" panose="02020603050405020304" pitchFamily="18" charset="-78"/>
              </a:rPr>
              <a:t>In practical settings, linguistic interpretability supports model debugging, error analysis, and bias detection. It helps practitioners assess dataset quality and understand model failures. Interpretability is also essential for ensuring robustness and for supporting responsible and ethical deployment of NLP systems in real-world environments.</a:t>
            </a:r>
          </a:p>
          <a:p>
            <a:endParaRPr lang="en-US" sz="2600" dirty="0">
              <a:latin typeface="Simplified Arabic" panose="02020603050405020304" pitchFamily="18" charset="-78"/>
              <a:cs typeface="Simplified Arabic" panose="02020603050405020304" pitchFamily="18" charset="-78"/>
            </a:endParaRPr>
          </a:p>
        </p:txBody>
      </p:sp>
    </p:spTree>
    <p:extLst>
      <p:ext uri="{BB962C8B-B14F-4D97-AF65-F5344CB8AC3E}">
        <p14:creationId xmlns:p14="http://schemas.microsoft.com/office/powerpoint/2010/main" val="29773931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DAB5C-380D-F040-8AC2-321AC5A4022C}"/>
              </a:ext>
            </a:extLst>
          </p:cNvPr>
          <p:cNvSpPr>
            <a:spLocks noGrp="1"/>
          </p:cNvSpPr>
          <p:nvPr>
            <p:ph type="title"/>
          </p:nvPr>
        </p:nvSpPr>
        <p:spPr/>
        <p:txBody>
          <a:bodyPr/>
          <a:lstStyle/>
          <a:p>
            <a:r>
              <a:rPr lang="en-US" dirty="0"/>
              <a:t>Interpretability for Model Improvement</a:t>
            </a:r>
          </a:p>
        </p:txBody>
      </p:sp>
      <p:sp>
        <p:nvSpPr>
          <p:cNvPr id="3" name="Content Placeholder 2">
            <a:extLst>
              <a:ext uri="{FF2B5EF4-FFF2-40B4-BE49-F238E27FC236}">
                <a16:creationId xmlns:a16="http://schemas.microsoft.com/office/drawing/2014/main" id="{0F75A1B9-F88B-748D-3547-ECEB4E185E2D}"/>
              </a:ext>
            </a:extLst>
          </p:cNvPr>
          <p:cNvSpPr>
            <a:spLocks noGrp="1"/>
          </p:cNvSpPr>
          <p:nvPr>
            <p:ph idx="1"/>
          </p:nvPr>
        </p:nvSpPr>
        <p:spPr/>
        <p:txBody>
          <a:bodyPr>
            <a:noAutofit/>
          </a:bodyPr>
          <a:lstStyle/>
          <a:p>
            <a:r>
              <a:rPr lang="en-US" sz="2600" dirty="0">
                <a:latin typeface="Simplified Arabic" panose="02020603050405020304" pitchFamily="18" charset="-78"/>
                <a:cs typeface="Simplified Arabic" panose="02020603050405020304" pitchFamily="18" charset="-78"/>
              </a:rPr>
              <a:t>Error Analysis &amp; Debugging: Use attention patterns to detect why NER fails on certain </a:t>
            </a:r>
            <a:r>
              <a:rPr lang="en-US" sz="2600" dirty="0" err="1">
                <a:latin typeface="Simplified Arabic" panose="02020603050405020304" pitchFamily="18" charset="-78"/>
                <a:cs typeface="Simplified Arabic" panose="02020603050405020304" pitchFamily="18" charset="-78"/>
              </a:rPr>
              <a:t>entities.Bias</a:t>
            </a:r>
            <a:r>
              <a:rPr lang="en-US" sz="2600" dirty="0">
                <a:latin typeface="Simplified Arabic" panose="02020603050405020304" pitchFamily="18" charset="-78"/>
                <a:cs typeface="Simplified Arabic" panose="02020603050405020304" pitchFamily="18" charset="-78"/>
              </a:rPr>
              <a:t> Detection: Identify stereotypical associations via probing (gender bias in coreference resolution).Data Augmentation: Use interpretability to find underrepresented linguistic phenomena and enrich training </a:t>
            </a:r>
            <a:r>
              <a:rPr lang="en-US" sz="2600" dirty="0" err="1">
                <a:latin typeface="Simplified Arabic" panose="02020603050405020304" pitchFamily="18" charset="-78"/>
                <a:cs typeface="Simplified Arabic" panose="02020603050405020304" pitchFamily="18" charset="-78"/>
              </a:rPr>
              <a:t>data.Interpretability</a:t>
            </a:r>
            <a:r>
              <a:rPr lang="en-US" sz="2600" dirty="0">
                <a:latin typeface="Simplified Arabic" panose="02020603050405020304" pitchFamily="18" charset="-78"/>
                <a:cs typeface="Simplified Arabic" panose="02020603050405020304" pitchFamily="18" charset="-78"/>
              </a:rPr>
              <a:t>-Guided Fine-tuning: Regularize models to align attention with linguistic heuristics (syntactic trees).Impact: Turns interpretability from a diagnostic into a tool for building better models.</a:t>
            </a:r>
          </a:p>
        </p:txBody>
      </p:sp>
    </p:spTree>
    <p:extLst>
      <p:ext uri="{BB962C8B-B14F-4D97-AF65-F5344CB8AC3E}">
        <p14:creationId xmlns:p14="http://schemas.microsoft.com/office/powerpoint/2010/main" val="16091770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D2C63-578E-F9C9-46E8-11AEC07CC640}"/>
              </a:ext>
            </a:extLst>
          </p:cNvPr>
          <p:cNvSpPr>
            <a:spLocks noGrp="1"/>
          </p:cNvSpPr>
          <p:nvPr>
            <p:ph type="title"/>
          </p:nvPr>
        </p:nvSpPr>
        <p:spPr/>
        <p:txBody>
          <a:bodyPr>
            <a:normAutofit fontScale="90000"/>
          </a:bodyPr>
          <a:lstStyle/>
          <a:p>
            <a:r>
              <a:rPr lang="en-US" dirty="0"/>
              <a:t>Social Media, Content Analysis, and Security</a:t>
            </a:r>
          </a:p>
        </p:txBody>
      </p:sp>
      <p:sp>
        <p:nvSpPr>
          <p:cNvPr id="3" name="Content Placeholder 2">
            <a:extLst>
              <a:ext uri="{FF2B5EF4-FFF2-40B4-BE49-F238E27FC236}">
                <a16:creationId xmlns:a16="http://schemas.microsoft.com/office/drawing/2014/main" id="{06AFB0D7-D278-9579-6F7D-6D394BCA0640}"/>
              </a:ext>
            </a:extLst>
          </p:cNvPr>
          <p:cNvSpPr>
            <a:spLocks noGrp="1"/>
          </p:cNvSpPr>
          <p:nvPr>
            <p:ph idx="1"/>
          </p:nvPr>
        </p:nvSpPr>
        <p:spPr/>
        <p:txBody>
          <a:bodyPr>
            <a:normAutofit fontScale="62500" lnSpcReduction="20000"/>
          </a:bodyPr>
          <a:lstStyle/>
          <a:p>
            <a:r>
              <a:rPr lang="en-US" sz="3400" dirty="0">
                <a:latin typeface="Simplified Arabic" panose="02020603050405020304" pitchFamily="18" charset="-78"/>
                <a:cs typeface="Simplified Arabic" panose="02020603050405020304" pitchFamily="18" charset="-78"/>
              </a:rPr>
              <a:t>Explainable hate speech and toxicity detection</a:t>
            </a:r>
          </a:p>
          <a:p>
            <a:endParaRPr lang="en-US" dirty="0">
              <a:latin typeface="Simplified Arabic" panose="02020603050405020304" pitchFamily="18" charset="-78"/>
              <a:cs typeface="Simplified Arabic" panose="02020603050405020304" pitchFamily="18" charset="-78"/>
            </a:endParaRPr>
          </a:p>
          <a:p>
            <a:r>
              <a:rPr lang="en-US" sz="3400" dirty="0">
                <a:latin typeface="Simplified Arabic" panose="02020603050405020304" pitchFamily="18" charset="-78"/>
                <a:cs typeface="Simplified Arabic" panose="02020603050405020304" pitchFamily="18" charset="-78"/>
              </a:rPr>
              <a:t>Misinformation and propaganda analysis</a:t>
            </a:r>
          </a:p>
          <a:p>
            <a:endParaRPr lang="en-US" dirty="0">
              <a:latin typeface="Simplified Arabic" panose="02020603050405020304" pitchFamily="18" charset="-78"/>
              <a:cs typeface="Simplified Arabic" panose="02020603050405020304" pitchFamily="18" charset="-78"/>
            </a:endParaRPr>
          </a:p>
          <a:p>
            <a:r>
              <a:rPr lang="en-US" sz="3400" dirty="0">
                <a:latin typeface="Simplified Arabic" panose="02020603050405020304" pitchFamily="18" charset="-78"/>
                <a:cs typeface="Simplified Arabic" panose="02020603050405020304" pitchFamily="18" charset="-78"/>
              </a:rPr>
              <a:t>Discourse and narrative structure analysis</a:t>
            </a:r>
          </a:p>
          <a:p>
            <a:endParaRPr lang="en-US" dirty="0">
              <a:latin typeface="Simplified Arabic" panose="02020603050405020304" pitchFamily="18" charset="-78"/>
              <a:cs typeface="Simplified Arabic" panose="02020603050405020304" pitchFamily="18" charset="-78"/>
            </a:endParaRPr>
          </a:p>
          <a:p>
            <a:r>
              <a:rPr lang="en-US" sz="3800" dirty="0">
                <a:latin typeface="Simplified Arabic" panose="02020603050405020304" pitchFamily="18" charset="-78"/>
                <a:cs typeface="Simplified Arabic" panose="02020603050405020304" pitchFamily="18" charset="-78"/>
              </a:rPr>
              <a:t>Detection of extremist and malicious communication</a:t>
            </a:r>
          </a:p>
          <a:p>
            <a:endParaRPr lang="en-US" dirty="0">
              <a:latin typeface="Simplified Arabic" panose="02020603050405020304" pitchFamily="18" charset="-78"/>
              <a:cs typeface="Simplified Arabic" panose="02020603050405020304" pitchFamily="18" charset="-78"/>
            </a:endParaRPr>
          </a:p>
          <a:p>
            <a:r>
              <a:rPr lang="en-US" sz="3800" dirty="0">
                <a:latin typeface="Simplified Arabic" panose="02020603050405020304" pitchFamily="18" charset="-78"/>
                <a:cs typeface="Simplified Arabic" panose="02020603050405020304" pitchFamily="18" charset="-78"/>
              </a:rPr>
              <a:t>Transparent automated moderation and monitoring systems</a:t>
            </a:r>
          </a:p>
        </p:txBody>
      </p:sp>
    </p:spTree>
    <p:extLst>
      <p:ext uri="{BB962C8B-B14F-4D97-AF65-F5344CB8AC3E}">
        <p14:creationId xmlns:p14="http://schemas.microsoft.com/office/powerpoint/2010/main" val="29176779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3FF4B-215C-97D8-CD20-30697A9C9D8C}"/>
              </a:ext>
            </a:extLst>
          </p:cNvPr>
          <p:cNvSpPr>
            <a:spLocks noGrp="1"/>
          </p:cNvSpPr>
          <p:nvPr>
            <p:ph type="title"/>
          </p:nvPr>
        </p:nvSpPr>
        <p:spPr>
          <a:xfrm>
            <a:off x="1295402" y="982132"/>
            <a:ext cx="3100752" cy="1303867"/>
          </a:xfrm>
        </p:spPr>
        <p:txBody>
          <a:bodyPr/>
          <a:lstStyle/>
          <a:p>
            <a:r>
              <a:rPr lang="en-US" b="1" i="1" dirty="0"/>
              <a:t>Conclusion</a:t>
            </a:r>
          </a:p>
        </p:txBody>
      </p:sp>
      <p:sp>
        <p:nvSpPr>
          <p:cNvPr id="3" name="Content Placeholder 2">
            <a:extLst>
              <a:ext uri="{FF2B5EF4-FFF2-40B4-BE49-F238E27FC236}">
                <a16:creationId xmlns:a16="http://schemas.microsoft.com/office/drawing/2014/main" id="{AB8010DD-38C5-9A22-D31E-408C5ABF408B}"/>
              </a:ext>
            </a:extLst>
          </p:cNvPr>
          <p:cNvSpPr>
            <a:spLocks noGrp="1"/>
          </p:cNvSpPr>
          <p:nvPr>
            <p:ph idx="1"/>
          </p:nvPr>
        </p:nvSpPr>
        <p:spPr/>
        <p:txBody>
          <a:bodyPr>
            <a:normAutofit fontScale="62500" lnSpcReduction="20000"/>
          </a:bodyPr>
          <a:lstStyle/>
          <a:p>
            <a:r>
              <a:rPr lang="en-US" sz="2900" dirty="0">
                <a:latin typeface="Simplified Arabic" panose="02020603050405020304" pitchFamily="18" charset="-78"/>
                <a:cs typeface="Simplified Arabic" panose="02020603050405020304" pitchFamily="18" charset="-78"/>
              </a:rPr>
              <a:t>Linguistic interpretability is a core challenge in modern NLP</a:t>
            </a:r>
          </a:p>
          <a:p>
            <a:endParaRPr lang="en-US" dirty="0">
              <a:latin typeface="Simplified Arabic" panose="02020603050405020304" pitchFamily="18" charset="-78"/>
              <a:cs typeface="Simplified Arabic" panose="02020603050405020304" pitchFamily="18" charset="-78"/>
            </a:endParaRPr>
          </a:p>
          <a:p>
            <a:r>
              <a:rPr lang="en-US" sz="3400" dirty="0">
                <a:latin typeface="Simplified Arabic" panose="02020603050405020304" pitchFamily="18" charset="-78"/>
                <a:cs typeface="Simplified Arabic" panose="02020603050405020304" pitchFamily="18" charset="-78"/>
              </a:rPr>
              <a:t>It bridges neural computation and human language understanding</a:t>
            </a:r>
          </a:p>
          <a:p>
            <a:endParaRPr lang="en-US" dirty="0">
              <a:latin typeface="Simplified Arabic" panose="02020603050405020304" pitchFamily="18" charset="-78"/>
              <a:cs typeface="Simplified Arabic" panose="02020603050405020304" pitchFamily="18" charset="-78"/>
            </a:endParaRPr>
          </a:p>
          <a:p>
            <a:r>
              <a:rPr lang="en-US" sz="2900" dirty="0">
                <a:latin typeface="Simplified Arabic" panose="02020603050405020304" pitchFamily="18" charset="-78"/>
                <a:cs typeface="Simplified Arabic" panose="02020603050405020304" pitchFamily="18" charset="-78"/>
              </a:rPr>
              <a:t>Interpretability enhances transparency, trust, and safety</a:t>
            </a:r>
          </a:p>
          <a:p>
            <a:endParaRPr lang="en-US" dirty="0">
              <a:latin typeface="Simplified Arabic" panose="02020603050405020304" pitchFamily="18" charset="-78"/>
              <a:cs typeface="Simplified Arabic" panose="02020603050405020304" pitchFamily="18" charset="-78"/>
            </a:endParaRPr>
          </a:p>
          <a:p>
            <a:r>
              <a:rPr lang="en-US" sz="2900" dirty="0">
                <a:latin typeface="Simplified Arabic" panose="02020603050405020304" pitchFamily="18" charset="-78"/>
                <a:cs typeface="Simplified Arabic" panose="02020603050405020304" pitchFamily="18" charset="-78"/>
              </a:rPr>
              <a:t>The field is essential for the future of language technologies</a:t>
            </a:r>
          </a:p>
          <a:p>
            <a:endParaRPr lang="en-US" dirty="0">
              <a:latin typeface="Simplified Arabic" panose="02020603050405020304" pitchFamily="18" charset="-78"/>
              <a:cs typeface="Simplified Arabic" panose="02020603050405020304" pitchFamily="18" charset="-78"/>
            </a:endParaRPr>
          </a:p>
          <a:p>
            <a:r>
              <a:rPr lang="en-US" sz="3200" dirty="0">
                <a:latin typeface="Simplified Arabic" panose="02020603050405020304" pitchFamily="18" charset="-78"/>
                <a:cs typeface="Simplified Arabic" panose="02020603050405020304" pitchFamily="18" charset="-78"/>
              </a:rPr>
              <a:t>It plays a critical role in responsible deployment of NLP systems</a:t>
            </a:r>
          </a:p>
          <a:p>
            <a:endParaRPr lang="en-US" dirty="0">
              <a:latin typeface="Simplified Arabic" panose="02020603050405020304" pitchFamily="18" charset="-78"/>
              <a:cs typeface="Simplified Arabic" panose="02020603050405020304" pitchFamily="18" charset="-78"/>
            </a:endParaRPr>
          </a:p>
        </p:txBody>
      </p:sp>
    </p:spTree>
    <p:extLst>
      <p:ext uri="{BB962C8B-B14F-4D97-AF65-F5344CB8AC3E}">
        <p14:creationId xmlns:p14="http://schemas.microsoft.com/office/powerpoint/2010/main" val="42306273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22E09-09AB-32B6-59DF-6C5FE429F824}"/>
              </a:ext>
            </a:extLst>
          </p:cNvPr>
          <p:cNvSpPr>
            <a:spLocks noGrp="1"/>
          </p:cNvSpPr>
          <p:nvPr>
            <p:ph type="title"/>
          </p:nvPr>
        </p:nvSpPr>
        <p:spPr>
          <a:xfrm>
            <a:off x="1295402" y="982132"/>
            <a:ext cx="2936629" cy="1303867"/>
          </a:xfrm>
        </p:spPr>
        <p:txBody>
          <a:bodyPr/>
          <a:lstStyle/>
          <a:p>
            <a:r>
              <a:rPr lang="en-US" b="1" i="1" u="sng" dirty="0"/>
              <a:t>References</a:t>
            </a:r>
          </a:p>
        </p:txBody>
      </p:sp>
      <p:sp>
        <p:nvSpPr>
          <p:cNvPr id="3" name="Content Placeholder 2">
            <a:extLst>
              <a:ext uri="{FF2B5EF4-FFF2-40B4-BE49-F238E27FC236}">
                <a16:creationId xmlns:a16="http://schemas.microsoft.com/office/drawing/2014/main" id="{26AA6E2E-1D31-0CAC-D2FC-4B02DA9174B1}"/>
              </a:ext>
            </a:extLst>
          </p:cNvPr>
          <p:cNvSpPr>
            <a:spLocks noGrp="1"/>
          </p:cNvSpPr>
          <p:nvPr>
            <p:ph idx="1"/>
          </p:nvPr>
        </p:nvSpPr>
        <p:spPr/>
        <p:txBody>
          <a:bodyPr>
            <a:noAutofit/>
          </a:bodyPr>
          <a:lstStyle/>
          <a:p>
            <a:r>
              <a:rPr lang="en-US" sz="1400" dirty="0"/>
              <a:t>1. Vaswani, A., </a:t>
            </a:r>
            <a:r>
              <a:rPr lang="en-US" sz="1400" dirty="0" err="1"/>
              <a:t>Shazeer</a:t>
            </a:r>
            <a:r>
              <a:rPr lang="en-US" sz="1400" dirty="0"/>
              <a:t>, N., Parmar, N., </a:t>
            </a:r>
            <a:r>
              <a:rPr lang="en-US" sz="1400" dirty="0" err="1"/>
              <a:t>Uszkoreit</a:t>
            </a:r>
            <a:r>
              <a:rPr lang="en-US" sz="1400" dirty="0"/>
              <a:t>, J., Jones, L., Gomez, A. N., Kaiser, Ł., &amp; </a:t>
            </a:r>
            <a:r>
              <a:rPr lang="en-US" sz="1400" dirty="0" err="1"/>
              <a:t>Polosukhin</a:t>
            </a:r>
            <a:r>
              <a:rPr lang="en-US" sz="1400" dirty="0"/>
              <a:t>, I. (2017).Attention Is All You Need. Advances in Neural Information Processing Systems (</a:t>
            </a:r>
            <a:r>
              <a:rPr lang="en-US" sz="1400" dirty="0" err="1"/>
              <a:t>NeurIPS</a:t>
            </a:r>
            <a:r>
              <a:rPr lang="en-US" sz="1400" dirty="0"/>
              <a:t>).</a:t>
            </a:r>
            <a:br>
              <a:rPr lang="en-US" sz="1400" dirty="0"/>
            </a:br>
            <a:br>
              <a:rPr lang="en-US" sz="1400" dirty="0"/>
            </a:br>
            <a:r>
              <a:rPr lang="en-US" sz="1400" dirty="0"/>
              <a:t>2. </a:t>
            </a:r>
            <a:r>
              <a:rPr lang="en-US" sz="1400" dirty="0" err="1"/>
              <a:t>Belinkov</a:t>
            </a:r>
            <a:r>
              <a:rPr lang="en-US" sz="1400" dirty="0"/>
              <a:t>, Y., &amp; Glass, J. (2019).Analysis Methods in Neural Language Processing: A Survey. Computational Linguistics.</a:t>
            </a:r>
            <a:br>
              <a:rPr lang="en-US" sz="1400" dirty="0"/>
            </a:br>
            <a:br>
              <a:rPr lang="en-US" sz="1400" dirty="0"/>
            </a:br>
            <a:r>
              <a:rPr lang="en-US" sz="1400" dirty="0"/>
              <a:t>3. Tenney, I., Das, D., &amp; Pavlick, E. (2019).BERT Rediscovers the Classical NLP Pipeline. Proceedings of the 57th Annual Meeting of the Association for Computational Linguistics (ACL).</a:t>
            </a:r>
            <a:br>
              <a:rPr lang="en-US" sz="1400" dirty="0"/>
            </a:br>
            <a:br>
              <a:rPr lang="en-US" sz="1400" dirty="0"/>
            </a:br>
            <a:r>
              <a:rPr lang="en-US" sz="1400" dirty="0"/>
              <a:t>4. Hewitt, J., &amp; Manning, C. D. (2019).A Structural Probe for Finding Syntax in Word Representations. Proceedings of NAACL-HLT.</a:t>
            </a:r>
            <a:br>
              <a:rPr lang="en-US" sz="1400" dirty="0"/>
            </a:br>
            <a:br>
              <a:rPr lang="en-US" sz="1400" dirty="0"/>
            </a:br>
            <a:r>
              <a:rPr lang="en-US" sz="1400" dirty="0"/>
              <a:t>5. </a:t>
            </a:r>
            <a:r>
              <a:rPr lang="en-US" sz="1400" dirty="0" err="1"/>
              <a:t>Conneau</a:t>
            </a:r>
            <a:r>
              <a:rPr lang="en-US" sz="1400" dirty="0"/>
              <a:t>, A., Kruszewski, G., Lample, G., Barrault, L., &amp; Baroni, M. (2018).What You Can Cram into a Single Vector: Probing Sentence Embeddings for Linguistic Properties. Proceedings of ACL.</a:t>
            </a:r>
            <a:br>
              <a:rPr lang="en-US" sz="1400" dirty="0"/>
            </a:br>
            <a:br>
              <a:rPr lang="en-US" sz="1400" dirty="0"/>
            </a:br>
            <a:r>
              <a:rPr lang="en-US" sz="1400" dirty="0"/>
              <a:t>6. Hewitt, J., &amp; Liang, P. (2019).Designing and Interpreting Probes with Control Tasks. Proceedings of EMNLP-IJCNLP.</a:t>
            </a:r>
          </a:p>
        </p:txBody>
      </p:sp>
    </p:spTree>
    <p:extLst>
      <p:ext uri="{BB962C8B-B14F-4D97-AF65-F5344CB8AC3E}">
        <p14:creationId xmlns:p14="http://schemas.microsoft.com/office/powerpoint/2010/main" val="11956638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622A47-B6BE-6A48-6B0D-DBC0FB546970}"/>
              </a:ext>
            </a:extLst>
          </p:cNvPr>
          <p:cNvSpPr>
            <a:spLocks noGrp="1"/>
          </p:cNvSpPr>
          <p:nvPr>
            <p:ph idx="1"/>
          </p:nvPr>
        </p:nvSpPr>
        <p:spPr>
          <a:xfrm>
            <a:off x="1295402" y="1071358"/>
            <a:ext cx="9601196" cy="3318936"/>
          </a:xfrm>
        </p:spPr>
        <p:txBody>
          <a:bodyPr>
            <a:noAutofit/>
          </a:bodyPr>
          <a:lstStyle/>
          <a:p>
            <a:pPr marL="0" indent="0">
              <a:buNone/>
            </a:pPr>
            <a:r>
              <a:rPr lang="en-US" sz="1800" dirty="0"/>
              <a:t>7. Clark, K., Khandelwal, U., Levy, O., &amp; Manning, C. D. (2019).What Does BERT Look at? An Analysis of BERT’s Attention. Proceedings of ACL.</a:t>
            </a:r>
            <a:br>
              <a:rPr lang="en-US" sz="1800" dirty="0"/>
            </a:br>
            <a:br>
              <a:rPr lang="en-US" sz="1800" dirty="0"/>
            </a:br>
            <a:r>
              <a:rPr lang="en-US" sz="1800" dirty="0"/>
              <a:t>8. Jain, S., &amp; Wallace, B. C. (2019).Attention Is Not Explanation. Proceedings of NAACL-HLT.</a:t>
            </a:r>
            <a:br>
              <a:rPr lang="en-US" sz="1800" dirty="0"/>
            </a:br>
            <a:br>
              <a:rPr lang="en-US" sz="1800" dirty="0"/>
            </a:br>
            <a:r>
              <a:rPr lang="en-US" sz="1800" dirty="0"/>
              <a:t>9. Elhage, N., et al. (2021).A Mathematical Framework for Transformer Circuits. Transformer Circuits (OpenAI / Anthropic).</a:t>
            </a:r>
            <a:br>
              <a:rPr lang="en-US" sz="1800" dirty="0"/>
            </a:br>
            <a:br>
              <a:rPr lang="en-US" sz="1800" dirty="0"/>
            </a:br>
            <a:r>
              <a:rPr lang="en-US" sz="1800" dirty="0"/>
              <a:t>10. Manning, C. D., Clark, K., Hewitt, J., Khandelwal, U., &amp; Levy, O. (2020).Emergent Linguistic Structure in Artificial Neural Networks. Proceedings of the National Academy of Sciences (PNAS).</a:t>
            </a:r>
            <a:br>
              <a:rPr lang="en-US" sz="1800" dirty="0"/>
            </a:br>
            <a:br>
              <a:rPr lang="en-US" sz="1800" dirty="0"/>
            </a:br>
            <a:r>
              <a:rPr lang="en-US" sz="1800" dirty="0"/>
              <a:t>11. Doshi-Velez, F., &amp; Kim, B. (2017).Towards a Rigorous Science of Interpretable Machine Learning. </a:t>
            </a:r>
            <a:r>
              <a:rPr lang="en-US" sz="1800" dirty="0" err="1"/>
              <a:t>arXiv</a:t>
            </a:r>
            <a:r>
              <a:rPr lang="en-US" sz="1800" dirty="0"/>
              <a:t> preprint arXiv:1702.08608.</a:t>
            </a:r>
            <a:br>
              <a:rPr lang="en-US" sz="1800" dirty="0"/>
            </a:br>
            <a:br>
              <a:rPr lang="en-US" sz="1800" dirty="0"/>
            </a:br>
            <a:r>
              <a:rPr lang="en-US" sz="1800" dirty="0"/>
              <a:t>12. </a:t>
            </a:r>
            <a:r>
              <a:rPr lang="en-US" sz="1800" dirty="0" err="1"/>
              <a:t>Danilevsky</a:t>
            </a:r>
            <a:r>
              <a:rPr lang="en-US" sz="1800" dirty="0"/>
              <a:t>, M., Qian, K., Aharonov, R., Katsis, Y., Kawas, B., &amp; Sen, P. (2020).A Survey of the State of Explainable AI for Natural Language Processing. Proceedings of ACL.</a:t>
            </a:r>
          </a:p>
        </p:txBody>
      </p:sp>
    </p:spTree>
    <p:extLst>
      <p:ext uri="{BB962C8B-B14F-4D97-AF65-F5344CB8AC3E}">
        <p14:creationId xmlns:p14="http://schemas.microsoft.com/office/powerpoint/2010/main" val="34441803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E3EDE-11E2-6F84-BE82-CE34A66719CD}"/>
              </a:ext>
            </a:extLst>
          </p:cNvPr>
          <p:cNvSpPr>
            <a:spLocks noGrp="1"/>
          </p:cNvSpPr>
          <p:nvPr>
            <p:ph type="title"/>
          </p:nvPr>
        </p:nvSpPr>
        <p:spPr/>
        <p:txBody>
          <a:bodyPr>
            <a:normAutofit fontScale="90000"/>
          </a:bodyPr>
          <a:lstStyle/>
          <a:p>
            <a:r>
              <a:rPr lang="en-US" sz="8000" b="1" i="1" dirty="0"/>
              <a:t>The End</a:t>
            </a:r>
          </a:p>
        </p:txBody>
      </p:sp>
      <p:sp>
        <p:nvSpPr>
          <p:cNvPr id="3" name="Content Placeholder 2">
            <a:extLst>
              <a:ext uri="{FF2B5EF4-FFF2-40B4-BE49-F238E27FC236}">
                <a16:creationId xmlns:a16="http://schemas.microsoft.com/office/drawing/2014/main" id="{86C9DF58-8F89-E229-7A41-6D4EAD20AF3E}"/>
              </a:ext>
            </a:extLst>
          </p:cNvPr>
          <p:cNvSpPr>
            <a:spLocks noGrp="1"/>
          </p:cNvSpPr>
          <p:nvPr>
            <p:ph idx="1"/>
          </p:nvPr>
        </p:nvSpPr>
        <p:spPr>
          <a:xfrm>
            <a:off x="1673469" y="3518226"/>
            <a:ext cx="8845061" cy="1053776"/>
          </a:xfrm>
        </p:spPr>
        <p:txBody>
          <a:bodyPr>
            <a:normAutofit fontScale="92500"/>
          </a:bodyPr>
          <a:lstStyle/>
          <a:p>
            <a:pPr marL="0" indent="0">
              <a:buNone/>
            </a:pPr>
            <a:r>
              <a:rPr lang="en-US" sz="6000" b="1">
                <a:latin typeface="+mj-lt"/>
              </a:rPr>
              <a:t>Thank you </a:t>
            </a:r>
            <a:r>
              <a:rPr lang="en-US" sz="6000" b="1" dirty="0">
                <a:latin typeface="+mj-lt"/>
              </a:rPr>
              <a:t>for your attention</a:t>
            </a:r>
          </a:p>
        </p:txBody>
      </p:sp>
    </p:spTree>
    <p:extLst>
      <p:ext uri="{BB962C8B-B14F-4D97-AF65-F5344CB8AC3E}">
        <p14:creationId xmlns:p14="http://schemas.microsoft.com/office/powerpoint/2010/main" val="4290897789"/>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B15E28"/>
      </a:accent1>
      <a:accent2>
        <a:srgbClr val="B13228"/>
      </a:accent2>
      <a:accent3>
        <a:srgbClr val="8B7B56"/>
      </a:accent3>
      <a:accent4>
        <a:srgbClr val="E09C41"/>
      </a:accent4>
      <a:accent5>
        <a:srgbClr val="9EAE51"/>
      </a:accent5>
      <a:accent6>
        <a:srgbClr val="6E7355"/>
      </a:accent6>
      <a:hlink>
        <a:srgbClr val="D37A21"/>
      </a:hlink>
      <a:folHlink>
        <a:srgbClr val="CA8F55"/>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039A4B3-0617-4CFC-B614-27363ECC28AC}"/>
    </a:ext>
  </a:extLst>
</a:theme>
</file>

<file path=docProps/app.xml><?xml version="1.0" encoding="utf-8"?>
<Properties xmlns="http://schemas.openxmlformats.org/officeDocument/2006/extended-properties" xmlns:vt="http://schemas.openxmlformats.org/officeDocument/2006/docPropsVTypes">
  <Template>Organic</Template>
  <TotalTime>190</TotalTime>
  <Words>1929</Words>
  <Application>Microsoft Office PowerPoint</Application>
  <PresentationFormat>Widescreen</PresentationFormat>
  <Paragraphs>156</Paragraphs>
  <Slides>28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Garamond</vt:lpstr>
      <vt:lpstr>Simplified Arabic</vt:lpstr>
      <vt:lpstr>Organic</vt:lpstr>
      <vt:lpstr>Interpretability   Natural language processing</vt:lpstr>
      <vt:lpstr>PowerPoint Presentation</vt:lpstr>
      <vt:lpstr>Introduction</vt:lpstr>
      <vt:lpstr>Background and Motivation</vt:lpstr>
      <vt:lpstr>Problem Definition</vt:lpstr>
      <vt:lpstr>Scope of the Problem</vt:lpstr>
      <vt:lpstr>Model Interpretability</vt:lpstr>
      <vt:lpstr>Importance of Linguistic Interpretability</vt:lpstr>
      <vt:lpstr>Real-world Relevance</vt:lpstr>
      <vt:lpstr>Position within NLP</vt:lpstr>
      <vt:lpstr>Relation to Core NLP Tasks</vt:lpstr>
      <vt:lpstr>Research Landscape</vt:lpstr>
      <vt:lpstr>Probing based Methods</vt:lpstr>
      <vt:lpstr>Concrete Examples of Linguistic Interpretability</vt:lpstr>
      <vt:lpstr>Attention based Analysis</vt:lpstr>
      <vt:lpstr>Causal Interpretability Methods</vt:lpstr>
      <vt:lpstr>Mechanistic Interpretability</vt:lpstr>
      <vt:lpstr>Tools &amp; Libraries for Interpretability</vt:lpstr>
      <vt:lpstr>Key Challenges</vt:lpstr>
      <vt:lpstr>Limitations of Current Approaches</vt:lpstr>
      <vt:lpstr>Future Research Directions</vt:lpstr>
      <vt:lpstr>Practical Applications</vt:lpstr>
      <vt:lpstr>Interpretability for Model Improvement</vt:lpstr>
      <vt:lpstr>Social Media, Content Analysis, and Security</vt:lpstr>
      <vt:lpstr>Conclusion</vt:lpstr>
      <vt:lpstr>References</vt:lpstr>
      <vt:lpstr>PowerPoint Presentation</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dc:creator>
  <cp:lastModifiedBy>ALI</cp:lastModifiedBy>
  <cp:revision>5</cp:revision>
  <dcterms:created xsi:type="dcterms:W3CDTF">2026-01-31T17:54:18Z</dcterms:created>
  <dcterms:modified xsi:type="dcterms:W3CDTF">2026-01-31T23:16:18Z</dcterms:modified>
</cp:coreProperties>
</file>